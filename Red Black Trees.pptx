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4"/>
  </p:sldMasterIdLst>
  <p:sldIdLst>
    <p:sldId id="256" r:id="rId5"/>
    <p:sldId id="257" r:id="rId6"/>
    <p:sldId id="258" r:id="rId7"/>
    <p:sldId id="263" r:id="rId8"/>
    <p:sldId id="259" r:id="rId9"/>
    <p:sldId id="260" r:id="rId10"/>
    <p:sldId id="262" r:id="rId11"/>
    <p:sldId id="261"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990338-AC79-4F75-A432-525E54F6D6BC}" v="49" dt="2025-07-26T00:45:46.3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51" d="100"/>
          <a:sy n="51" d="100"/>
        </p:scale>
        <p:origin x="690"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B9774F-E971-4A3A-89D3-C296BC16EBD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61A4683-1741-43B0-A523-E444D5E83A37}">
      <dgm:prSet/>
      <dgm:spPr/>
      <dgm:t>
        <a:bodyPr/>
        <a:lstStyle/>
        <a:p>
          <a:pPr>
            <a:lnSpc>
              <a:spcPct val="100000"/>
            </a:lnSpc>
          </a:pPr>
          <a:r>
            <a:rPr lang="en-US" b="1"/>
            <a:t>What is a Red-Black Tree?</a:t>
          </a:r>
          <a:endParaRPr lang="en-US"/>
        </a:p>
      </dgm:t>
    </dgm:pt>
    <dgm:pt modelId="{A7C4DCC8-0A57-4A46-9FD2-CD752E49811F}" type="parTrans" cxnId="{F9C8B8AB-AE8B-40D2-AD4A-21B279315301}">
      <dgm:prSet/>
      <dgm:spPr/>
      <dgm:t>
        <a:bodyPr/>
        <a:lstStyle/>
        <a:p>
          <a:endParaRPr lang="en-US"/>
        </a:p>
      </dgm:t>
    </dgm:pt>
    <dgm:pt modelId="{C7869DE5-81E4-4E3B-AE6F-8C483C9F70DE}" type="sibTrans" cxnId="{F9C8B8AB-AE8B-40D2-AD4A-21B279315301}">
      <dgm:prSet/>
      <dgm:spPr/>
      <dgm:t>
        <a:bodyPr/>
        <a:lstStyle/>
        <a:p>
          <a:endParaRPr lang="en-US"/>
        </a:p>
      </dgm:t>
    </dgm:pt>
    <dgm:pt modelId="{31E5EF3F-9667-4C21-AC22-E92B5E945DCB}">
      <dgm:prSet/>
      <dgm:spPr/>
      <dgm:t>
        <a:bodyPr/>
        <a:lstStyle/>
        <a:p>
          <a:pPr>
            <a:lnSpc>
              <a:spcPct val="100000"/>
            </a:lnSpc>
          </a:pPr>
          <a:r>
            <a:rPr lang="en-US"/>
            <a:t>A </a:t>
          </a:r>
          <a:r>
            <a:rPr lang="en-US" b="1"/>
            <a:t>Red-Black Tree</a:t>
          </a:r>
          <a:r>
            <a:rPr lang="en-US"/>
            <a:t> is a type of </a:t>
          </a:r>
          <a:r>
            <a:rPr lang="en-US" b="1"/>
            <a:t>self-balancing binary search tree</a:t>
          </a:r>
          <a:r>
            <a:rPr lang="en-US"/>
            <a:t> where each node has an extra bit for </a:t>
          </a:r>
          <a:r>
            <a:rPr lang="en-US" b="1"/>
            <a:t>color</a:t>
          </a:r>
          <a:r>
            <a:rPr lang="en-US"/>
            <a:t>—either red or black.</a:t>
          </a:r>
          <a:br>
            <a:rPr lang="en-US"/>
          </a:br>
          <a:r>
            <a:rPr lang="en-US"/>
            <a:t>This color is used to enforce </a:t>
          </a:r>
          <a:r>
            <a:rPr lang="en-US" b="1"/>
            <a:t>balance rules</a:t>
          </a:r>
          <a:r>
            <a:rPr lang="en-US"/>
            <a:t> that keep the tree's height logarithmic, ensuring fast operations. It supports insert, delete and search in O(log n) time, Maintains a balanced structure automatically and balance is preserved through rotations and recoloring.</a:t>
          </a:r>
        </a:p>
      </dgm:t>
    </dgm:pt>
    <dgm:pt modelId="{C892D279-EED4-4DD6-BC53-090D0E46EA14}" type="parTrans" cxnId="{EA4CB7AB-BDC5-4D99-9985-E0E7FBD0DCE7}">
      <dgm:prSet/>
      <dgm:spPr/>
      <dgm:t>
        <a:bodyPr/>
        <a:lstStyle/>
        <a:p>
          <a:endParaRPr lang="en-US"/>
        </a:p>
      </dgm:t>
    </dgm:pt>
    <dgm:pt modelId="{3181ABCD-F27E-4F2C-8D6F-8177E9DF0E2A}" type="sibTrans" cxnId="{EA4CB7AB-BDC5-4D99-9985-E0E7FBD0DCE7}">
      <dgm:prSet/>
      <dgm:spPr/>
      <dgm:t>
        <a:bodyPr/>
        <a:lstStyle/>
        <a:p>
          <a:endParaRPr lang="en-US"/>
        </a:p>
      </dgm:t>
    </dgm:pt>
    <dgm:pt modelId="{EB246362-D253-4E77-B9CE-F71405B695A1}" type="pres">
      <dgm:prSet presAssocID="{F8B9774F-E971-4A3A-89D3-C296BC16EBD2}" presName="root" presStyleCnt="0">
        <dgm:presLayoutVars>
          <dgm:dir/>
          <dgm:resizeHandles val="exact"/>
        </dgm:presLayoutVars>
      </dgm:prSet>
      <dgm:spPr/>
    </dgm:pt>
    <dgm:pt modelId="{BE39C5E9-5C51-4BF6-9B7F-BC969264D8DD}" type="pres">
      <dgm:prSet presAssocID="{B61A4683-1741-43B0-A523-E444D5E83A37}" presName="compNode" presStyleCnt="0"/>
      <dgm:spPr/>
    </dgm:pt>
    <dgm:pt modelId="{679ECDC7-F2C1-46CC-8380-3A97C6C4D422}" type="pres">
      <dgm:prSet presAssocID="{B61A4683-1741-43B0-A523-E444D5E83A37}" presName="bgRect" presStyleLbl="bgShp" presStyleIdx="0" presStyleCnt="2"/>
      <dgm:spPr/>
    </dgm:pt>
    <dgm:pt modelId="{74ACF69E-D9CF-424A-AE25-DC0F0D76F2A9}" type="pres">
      <dgm:prSet presAssocID="{B61A4683-1741-43B0-A523-E444D5E83A3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eciduous tree"/>
        </a:ext>
      </dgm:extLst>
    </dgm:pt>
    <dgm:pt modelId="{792009AE-9D6B-4FAE-A75D-FB3C50737675}" type="pres">
      <dgm:prSet presAssocID="{B61A4683-1741-43B0-A523-E444D5E83A37}" presName="spaceRect" presStyleCnt="0"/>
      <dgm:spPr/>
    </dgm:pt>
    <dgm:pt modelId="{F713396F-E940-4457-B009-061389464FC0}" type="pres">
      <dgm:prSet presAssocID="{B61A4683-1741-43B0-A523-E444D5E83A37}" presName="parTx" presStyleLbl="revTx" presStyleIdx="0" presStyleCnt="2">
        <dgm:presLayoutVars>
          <dgm:chMax val="0"/>
          <dgm:chPref val="0"/>
        </dgm:presLayoutVars>
      </dgm:prSet>
      <dgm:spPr/>
    </dgm:pt>
    <dgm:pt modelId="{24E57615-E180-4615-92F5-8B32111E314B}" type="pres">
      <dgm:prSet presAssocID="{C7869DE5-81E4-4E3B-AE6F-8C483C9F70DE}" presName="sibTrans" presStyleCnt="0"/>
      <dgm:spPr/>
    </dgm:pt>
    <dgm:pt modelId="{21DAD980-F808-4052-948F-F397B553E17F}" type="pres">
      <dgm:prSet presAssocID="{31E5EF3F-9667-4C21-AC22-E92B5E945DCB}" presName="compNode" presStyleCnt="0"/>
      <dgm:spPr/>
    </dgm:pt>
    <dgm:pt modelId="{7FDE157B-778A-472A-9D89-A89E98A78095}" type="pres">
      <dgm:prSet presAssocID="{31E5EF3F-9667-4C21-AC22-E92B5E945DCB}" presName="bgRect" presStyleLbl="bgShp" presStyleIdx="1" presStyleCnt="2"/>
      <dgm:spPr/>
    </dgm:pt>
    <dgm:pt modelId="{62978FC8-C814-453F-984B-CBB46E7D74BE}" type="pres">
      <dgm:prSet presAssocID="{31E5EF3F-9667-4C21-AC22-E92B5E945DC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61C39D7B-B160-4A8E-91A0-E6B3CD9ABD29}" type="pres">
      <dgm:prSet presAssocID="{31E5EF3F-9667-4C21-AC22-E92B5E945DCB}" presName="spaceRect" presStyleCnt="0"/>
      <dgm:spPr/>
    </dgm:pt>
    <dgm:pt modelId="{29DBB125-5C86-42B2-961D-653335C33BC3}" type="pres">
      <dgm:prSet presAssocID="{31E5EF3F-9667-4C21-AC22-E92B5E945DCB}" presName="parTx" presStyleLbl="revTx" presStyleIdx="1" presStyleCnt="2">
        <dgm:presLayoutVars>
          <dgm:chMax val="0"/>
          <dgm:chPref val="0"/>
        </dgm:presLayoutVars>
      </dgm:prSet>
      <dgm:spPr/>
    </dgm:pt>
  </dgm:ptLst>
  <dgm:cxnLst>
    <dgm:cxn modelId="{2146AF17-B281-422D-9870-333309B40700}" type="presOf" srcId="{F8B9774F-E971-4A3A-89D3-C296BC16EBD2}" destId="{EB246362-D253-4E77-B9CE-F71405B695A1}" srcOrd="0" destOrd="0" presId="urn:microsoft.com/office/officeart/2018/2/layout/IconVerticalSolidList"/>
    <dgm:cxn modelId="{E7FE715D-C0EE-4069-BFB3-95E311350523}" type="presOf" srcId="{31E5EF3F-9667-4C21-AC22-E92B5E945DCB}" destId="{29DBB125-5C86-42B2-961D-653335C33BC3}" srcOrd="0" destOrd="0" presId="urn:microsoft.com/office/officeart/2018/2/layout/IconVerticalSolidList"/>
    <dgm:cxn modelId="{EA4CB7AB-BDC5-4D99-9985-E0E7FBD0DCE7}" srcId="{F8B9774F-E971-4A3A-89D3-C296BC16EBD2}" destId="{31E5EF3F-9667-4C21-AC22-E92B5E945DCB}" srcOrd="1" destOrd="0" parTransId="{C892D279-EED4-4DD6-BC53-090D0E46EA14}" sibTransId="{3181ABCD-F27E-4F2C-8D6F-8177E9DF0E2A}"/>
    <dgm:cxn modelId="{F9C8B8AB-AE8B-40D2-AD4A-21B279315301}" srcId="{F8B9774F-E971-4A3A-89D3-C296BC16EBD2}" destId="{B61A4683-1741-43B0-A523-E444D5E83A37}" srcOrd="0" destOrd="0" parTransId="{A7C4DCC8-0A57-4A46-9FD2-CD752E49811F}" sibTransId="{C7869DE5-81E4-4E3B-AE6F-8C483C9F70DE}"/>
    <dgm:cxn modelId="{040F7ACF-8CC2-47E5-882E-5D392512D929}" type="presOf" srcId="{B61A4683-1741-43B0-A523-E444D5E83A37}" destId="{F713396F-E940-4457-B009-061389464FC0}" srcOrd="0" destOrd="0" presId="urn:microsoft.com/office/officeart/2018/2/layout/IconVerticalSolidList"/>
    <dgm:cxn modelId="{3BB026A2-8594-4C74-94B1-6D7EE6E98688}" type="presParOf" srcId="{EB246362-D253-4E77-B9CE-F71405B695A1}" destId="{BE39C5E9-5C51-4BF6-9B7F-BC969264D8DD}" srcOrd="0" destOrd="0" presId="urn:microsoft.com/office/officeart/2018/2/layout/IconVerticalSolidList"/>
    <dgm:cxn modelId="{3C22F237-BA89-4337-9C6A-47B13381C474}" type="presParOf" srcId="{BE39C5E9-5C51-4BF6-9B7F-BC969264D8DD}" destId="{679ECDC7-F2C1-46CC-8380-3A97C6C4D422}" srcOrd="0" destOrd="0" presId="urn:microsoft.com/office/officeart/2018/2/layout/IconVerticalSolidList"/>
    <dgm:cxn modelId="{2CA6A5F1-1A1C-49BA-A4E3-7BE9BD94CF0D}" type="presParOf" srcId="{BE39C5E9-5C51-4BF6-9B7F-BC969264D8DD}" destId="{74ACF69E-D9CF-424A-AE25-DC0F0D76F2A9}" srcOrd="1" destOrd="0" presId="urn:microsoft.com/office/officeart/2018/2/layout/IconVerticalSolidList"/>
    <dgm:cxn modelId="{85F6701B-0935-4BC4-832B-C6FEF9CF638E}" type="presParOf" srcId="{BE39C5E9-5C51-4BF6-9B7F-BC969264D8DD}" destId="{792009AE-9D6B-4FAE-A75D-FB3C50737675}" srcOrd="2" destOrd="0" presId="urn:microsoft.com/office/officeart/2018/2/layout/IconVerticalSolidList"/>
    <dgm:cxn modelId="{7DB8475E-BEE4-47B4-B2B7-A06DF80F6580}" type="presParOf" srcId="{BE39C5E9-5C51-4BF6-9B7F-BC969264D8DD}" destId="{F713396F-E940-4457-B009-061389464FC0}" srcOrd="3" destOrd="0" presId="urn:microsoft.com/office/officeart/2018/2/layout/IconVerticalSolidList"/>
    <dgm:cxn modelId="{2134FAE7-AA1C-4C16-8277-60C3F40FDF9B}" type="presParOf" srcId="{EB246362-D253-4E77-B9CE-F71405B695A1}" destId="{24E57615-E180-4615-92F5-8B32111E314B}" srcOrd="1" destOrd="0" presId="urn:microsoft.com/office/officeart/2018/2/layout/IconVerticalSolidList"/>
    <dgm:cxn modelId="{65998F6C-4EBB-4F4B-B28A-6158BA71BCB6}" type="presParOf" srcId="{EB246362-D253-4E77-B9CE-F71405B695A1}" destId="{21DAD980-F808-4052-948F-F397B553E17F}" srcOrd="2" destOrd="0" presId="urn:microsoft.com/office/officeart/2018/2/layout/IconVerticalSolidList"/>
    <dgm:cxn modelId="{28B8DACA-6DD0-4186-B94E-7BA551A0E9C0}" type="presParOf" srcId="{21DAD980-F808-4052-948F-F397B553E17F}" destId="{7FDE157B-778A-472A-9D89-A89E98A78095}" srcOrd="0" destOrd="0" presId="urn:microsoft.com/office/officeart/2018/2/layout/IconVerticalSolidList"/>
    <dgm:cxn modelId="{C14406B1-9777-439F-89E2-2D730ACE14A7}" type="presParOf" srcId="{21DAD980-F808-4052-948F-F397B553E17F}" destId="{62978FC8-C814-453F-984B-CBB46E7D74BE}" srcOrd="1" destOrd="0" presId="urn:microsoft.com/office/officeart/2018/2/layout/IconVerticalSolidList"/>
    <dgm:cxn modelId="{BC20FFF0-117F-4CAC-AB32-DD9641741337}" type="presParOf" srcId="{21DAD980-F808-4052-948F-F397B553E17F}" destId="{61C39D7B-B160-4A8E-91A0-E6B3CD9ABD29}" srcOrd="2" destOrd="0" presId="urn:microsoft.com/office/officeart/2018/2/layout/IconVerticalSolidList"/>
    <dgm:cxn modelId="{0C5940C5-5FF0-47B5-8916-1CD844AFE786}" type="presParOf" srcId="{21DAD980-F808-4052-948F-F397B553E17F}" destId="{29DBB125-5C86-42B2-961D-653335C33BC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204959-92D1-4B24-9FFC-A1D5633B8BE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DB965CF-9FC9-4857-BECF-9D6B4F0C7C90}">
      <dgm:prSet/>
      <dgm:spPr/>
      <dgm:t>
        <a:bodyPr/>
        <a:lstStyle/>
        <a:p>
          <a:r>
            <a:rPr lang="en-US"/>
            <a:t>Red-black trees are used to implement associative arrays and set data structures in many programming languages, such as Java's Tree Map and Tree Set, and C++'s std::map and std::set.</a:t>
          </a:r>
        </a:p>
      </dgm:t>
    </dgm:pt>
    <dgm:pt modelId="{D3BA8C0B-2EF5-4E8F-B79A-AFDDF63E84DD}" type="parTrans" cxnId="{706D62E5-D825-46CA-8BB0-A1ED42DF8A38}">
      <dgm:prSet/>
      <dgm:spPr/>
      <dgm:t>
        <a:bodyPr/>
        <a:lstStyle/>
        <a:p>
          <a:endParaRPr lang="en-US"/>
        </a:p>
      </dgm:t>
    </dgm:pt>
    <dgm:pt modelId="{6E5E0823-842A-482E-9FFC-0B1864323EF6}" type="sibTrans" cxnId="{706D62E5-D825-46CA-8BB0-A1ED42DF8A38}">
      <dgm:prSet/>
      <dgm:spPr/>
      <dgm:t>
        <a:bodyPr/>
        <a:lstStyle/>
        <a:p>
          <a:endParaRPr lang="en-US"/>
        </a:p>
      </dgm:t>
    </dgm:pt>
    <dgm:pt modelId="{4418AD89-4AD3-4E50-8B99-555A658894E6}">
      <dgm:prSet/>
      <dgm:spPr/>
      <dgm:t>
        <a:bodyPr/>
        <a:lstStyle/>
        <a:p>
          <a:r>
            <a:rPr lang="en-US"/>
            <a:t>They are used in memory management within operating systems, particularly in the Linux kernel for efficiently organizing and searching ranges of free memory.</a:t>
          </a:r>
        </a:p>
      </dgm:t>
    </dgm:pt>
    <dgm:pt modelId="{98BC32D1-87EA-4A63-9FE8-809EBBDE9F4B}" type="parTrans" cxnId="{49CC52F9-3AE7-4975-9394-3258A310E916}">
      <dgm:prSet/>
      <dgm:spPr/>
      <dgm:t>
        <a:bodyPr/>
        <a:lstStyle/>
        <a:p>
          <a:endParaRPr lang="en-US"/>
        </a:p>
      </dgm:t>
    </dgm:pt>
    <dgm:pt modelId="{F3A2A96E-AF38-499F-860D-01883DB1722C}" type="sibTrans" cxnId="{49CC52F9-3AE7-4975-9394-3258A310E916}">
      <dgm:prSet/>
      <dgm:spPr/>
      <dgm:t>
        <a:bodyPr/>
        <a:lstStyle/>
        <a:p>
          <a:endParaRPr lang="en-US"/>
        </a:p>
      </dgm:t>
    </dgm:pt>
    <dgm:pt modelId="{65657DE8-3E64-4E5A-8EB5-80B1215DA1DA}">
      <dgm:prSet/>
      <dgm:spPr/>
      <dgm:t>
        <a:bodyPr/>
        <a:lstStyle/>
        <a:p>
          <a:r>
            <a:rPr lang="en-US"/>
            <a:t>Red-black trees are employed in process scheduling algorithms in operating systems, where tasks need to be efficiently inserted, removed, and searched based on priority.</a:t>
          </a:r>
        </a:p>
      </dgm:t>
    </dgm:pt>
    <dgm:pt modelId="{14CE41FD-F192-4132-BA48-D79FC0E6794D}" type="parTrans" cxnId="{E1B67837-7AA0-40D7-B7AD-525124D7C9CA}">
      <dgm:prSet/>
      <dgm:spPr/>
      <dgm:t>
        <a:bodyPr/>
        <a:lstStyle/>
        <a:p>
          <a:endParaRPr lang="en-US"/>
        </a:p>
      </dgm:t>
    </dgm:pt>
    <dgm:pt modelId="{046AAFBA-D131-4980-88DD-E575B9EACE07}" type="sibTrans" cxnId="{E1B67837-7AA0-40D7-B7AD-525124D7C9CA}">
      <dgm:prSet/>
      <dgm:spPr/>
      <dgm:t>
        <a:bodyPr/>
        <a:lstStyle/>
        <a:p>
          <a:endParaRPr lang="en-US"/>
        </a:p>
      </dgm:t>
    </dgm:pt>
    <dgm:pt modelId="{A30C9DCD-11EB-4276-AA17-AED3009E719E}">
      <dgm:prSet/>
      <dgm:spPr/>
      <dgm:t>
        <a:bodyPr/>
        <a:lstStyle/>
        <a:p>
          <a:r>
            <a:rPr lang="en-US"/>
            <a:t>They are utilized in database management systems for implementing efficient indexing structures, allowing for fast insertion, deletion, and lookup operations.</a:t>
          </a:r>
        </a:p>
      </dgm:t>
    </dgm:pt>
    <dgm:pt modelId="{754D0CD2-F2CB-4B30-9DC7-21B11FC598EC}" type="parTrans" cxnId="{A4621B53-2E64-48F3-B973-93E9F5CA13AC}">
      <dgm:prSet/>
      <dgm:spPr/>
      <dgm:t>
        <a:bodyPr/>
        <a:lstStyle/>
        <a:p>
          <a:endParaRPr lang="en-US"/>
        </a:p>
      </dgm:t>
    </dgm:pt>
    <dgm:pt modelId="{981EBD8F-90F7-4E56-AF2A-EF5B71C62988}" type="sibTrans" cxnId="{A4621B53-2E64-48F3-B973-93E9F5CA13AC}">
      <dgm:prSet/>
      <dgm:spPr/>
      <dgm:t>
        <a:bodyPr/>
        <a:lstStyle/>
        <a:p>
          <a:endParaRPr lang="en-US"/>
        </a:p>
      </dgm:t>
    </dgm:pt>
    <dgm:pt modelId="{A72C4E53-42E2-4F6F-A940-4B27FA36D0C6}">
      <dgm:prSet/>
      <dgm:spPr/>
      <dgm:t>
        <a:bodyPr/>
        <a:lstStyle/>
        <a:p>
          <a:r>
            <a:rPr lang="en-US"/>
            <a:t>Red-black trees are used to implement symbol tables in compilers and interpreters, enabling efficient storage and retrieval of variable and function names</a:t>
          </a:r>
        </a:p>
      </dgm:t>
    </dgm:pt>
    <dgm:pt modelId="{DEAE5206-DAF3-40BD-85A7-16A3EC62AC86}" type="parTrans" cxnId="{B8320921-1669-4EDB-954F-6E1EDE0B058C}">
      <dgm:prSet/>
      <dgm:spPr/>
      <dgm:t>
        <a:bodyPr/>
        <a:lstStyle/>
        <a:p>
          <a:endParaRPr lang="en-US"/>
        </a:p>
      </dgm:t>
    </dgm:pt>
    <dgm:pt modelId="{022732D9-315E-4EF3-8BF8-2D4FA4475F21}" type="sibTrans" cxnId="{B8320921-1669-4EDB-954F-6E1EDE0B058C}">
      <dgm:prSet/>
      <dgm:spPr/>
      <dgm:t>
        <a:bodyPr/>
        <a:lstStyle/>
        <a:p>
          <a:endParaRPr lang="en-US"/>
        </a:p>
      </dgm:t>
    </dgm:pt>
    <dgm:pt modelId="{1330B659-5169-4555-88AB-5D5CB55DA600}" type="pres">
      <dgm:prSet presAssocID="{37204959-92D1-4B24-9FFC-A1D5633B8BEC}" presName="linear" presStyleCnt="0">
        <dgm:presLayoutVars>
          <dgm:animLvl val="lvl"/>
          <dgm:resizeHandles val="exact"/>
        </dgm:presLayoutVars>
      </dgm:prSet>
      <dgm:spPr/>
    </dgm:pt>
    <dgm:pt modelId="{B1661C0E-7A3B-4155-B8CE-09D393D0EE75}" type="pres">
      <dgm:prSet presAssocID="{ADB965CF-9FC9-4857-BECF-9D6B4F0C7C90}" presName="parentText" presStyleLbl="node1" presStyleIdx="0" presStyleCnt="5">
        <dgm:presLayoutVars>
          <dgm:chMax val="0"/>
          <dgm:bulletEnabled val="1"/>
        </dgm:presLayoutVars>
      </dgm:prSet>
      <dgm:spPr/>
    </dgm:pt>
    <dgm:pt modelId="{571CB46A-3907-455F-9301-FC0538BEE30C}" type="pres">
      <dgm:prSet presAssocID="{6E5E0823-842A-482E-9FFC-0B1864323EF6}" presName="spacer" presStyleCnt="0"/>
      <dgm:spPr/>
    </dgm:pt>
    <dgm:pt modelId="{73EE06CC-A482-412A-BC8E-A6468691A4FE}" type="pres">
      <dgm:prSet presAssocID="{4418AD89-4AD3-4E50-8B99-555A658894E6}" presName="parentText" presStyleLbl="node1" presStyleIdx="1" presStyleCnt="5">
        <dgm:presLayoutVars>
          <dgm:chMax val="0"/>
          <dgm:bulletEnabled val="1"/>
        </dgm:presLayoutVars>
      </dgm:prSet>
      <dgm:spPr/>
    </dgm:pt>
    <dgm:pt modelId="{F360D801-227F-42B5-8BE8-3E7C66D92B45}" type="pres">
      <dgm:prSet presAssocID="{F3A2A96E-AF38-499F-860D-01883DB1722C}" presName="spacer" presStyleCnt="0"/>
      <dgm:spPr/>
    </dgm:pt>
    <dgm:pt modelId="{9DC6EA06-2D02-4DC0-BE4E-413D2BBB4823}" type="pres">
      <dgm:prSet presAssocID="{65657DE8-3E64-4E5A-8EB5-80B1215DA1DA}" presName="parentText" presStyleLbl="node1" presStyleIdx="2" presStyleCnt="5">
        <dgm:presLayoutVars>
          <dgm:chMax val="0"/>
          <dgm:bulletEnabled val="1"/>
        </dgm:presLayoutVars>
      </dgm:prSet>
      <dgm:spPr/>
    </dgm:pt>
    <dgm:pt modelId="{E9D01378-940C-4393-AC27-64F0321EA8A6}" type="pres">
      <dgm:prSet presAssocID="{046AAFBA-D131-4980-88DD-E575B9EACE07}" presName="spacer" presStyleCnt="0"/>
      <dgm:spPr/>
    </dgm:pt>
    <dgm:pt modelId="{0A8E3EFD-5B9C-4970-8B33-F0343B5A133D}" type="pres">
      <dgm:prSet presAssocID="{A30C9DCD-11EB-4276-AA17-AED3009E719E}" presName="parentText" presStyleLbl="node1" presStyleIdx="3" presStyleCnt="5">
        <dgm:presLayoutVars>
          <dgm:chMax val="0"/>
          <dgm:bulletEnabled val="1"/>
        </dgm:presLayoutVars>
      </dgm:prSet>
      <dgm:spPr/>
    </dgm:pt>
    <dgm:pt modelId="{59CAAC3B-7C8D-4D08-8B26-3A45854AECA9}" type="pres">
      <dgm:prSet presAssocID="{981EBD8F-90F7-4E56-AF2A-EF5B71C62988}" presName="spacer" presStyleCnt="0"/>
      <dgm:spPr/>
    </dgm:pt>
    <dgm:pt modelId="{8B6EFC2E-E7FB-4430-8112-6B7DA44580D4}" type="pres">
      <dgm:prSet presAssocID="{A72C4E53-42E2-4F6F-A940-4B27FA36D0C6}" presName="parentText" presStyleLbl="node1" presStyleIdx="4" presStyleCnt="5">
        <dgm:presLayoutVars>
          <dgm:chMax val="0"/>
          <dgm:bulletEnabled val="1"/>
        </dgm:presLayoutVars>
      </dgm:prSet>
      <dgm:spPr/>
    </dgm:pt>
  </dgm:ptLst>
  <dgm:cxnLst>
    <dgm:cxn modelId="{257C1920-5448-43EB-8DB6-E21A1256EE66}" type="presOf" srcId="{4418AD89-4AD3-4E50-8B99-555A658894E6}" destId="{73EE06CC-A482-412A-BC8E-A6468691A4FE}" srcOrd="0" destOrd="0" presId="urn:microsoft.com/office/officeart/2005/8/layout/vList2"/>
    <dgm:cxn modelId="{B8320921-1669-4EDB-954F-6E1EDE0B058C}" srcId="{37204959-92D1-4B24-9FFC-A1D5633B8BEC}" destId="{A72C4E53-42E2-4F6F-A940-4B27FA36D0C6}" srcOrd="4" destOrd="0" parTransId="{DEAE5206-DAF3-40BD-85A7-16A3EC62AC86}" sibTransId="{022732D9-315E-4EF3-8BF8-2D4FA4475F21}"/>
    <dgm:cxn modelId="{E1B67837-7AA0-40D7-B7AD-525124D7C9CA}" srcId="{37204959-92D1-4B24-9FFC-A1D5633B8BEC}" destId="{65657DE8-3E64-4E5A-8EB5-80B1215DA1DA}" srcOrd="2" destOrd="0" parTransId="{14CE41FD-F192-4132-BA48-D79FC0E6794D}" sibTransId="{046AAFBA-D131-4980-88DD-E575B9EACE07}"/>
    <dgm:cxn modelId="{966C4B3B-D6F7-4F8A-9A0D-6B8DE8D585E7}" type="presOf" srcId="{37204959-92D1-4B24-9FFC-A1D5633B8BEC}" destId="{1330B659-5169-4555-88AB-5D5CB55DA600}" srcOrd="0" destOrd="0" presId="urn:microsoft.com/office/officeart/2005/8/layout/vList2"/>
    <dgm:cxn modelId="{B9BD9C52-98B2-4534-9A30-DF31C2C2DFBA}" type="presOf" srcId="{65657DE8-3E64-4E5A-8EB5-80B1215DA1DA}" destId="{9DC6EA06-2D02-4DC0-BE4E-413D2BBB4823}" srcOrd="0" destOrd="0" presId="urn:microsoft.com/office/officeart/2005/8/layout/vList2"/>
    <dgm:cxn modelId="{A4621B53-2E64-48F3-B973-93E9F5CA13AC}" srcId="{37204959-92D1-4B24-9FFC-A1D5633B8BEC}" destId="{A30C9DCD-11EB-4276-AA17-AED3009E719E}" srcOrd="3" destOrd="0" parTransId="{754D0CD2-F2CB-4B30-9DC7-21B11FC598EC}" sibTransId="{981EBD8F-90F7-4E56-AF2A-EF5B71C62988}"/>
    <dgm:cxn modelId="{C0D69C9F-5618-43BB-BC9F-5671CE0AB90D}" type="presOf" srcId="{A72C4E53-42E2-4F6F-A940-4B27FA36D0C6}" destId="{8B6EFC2E-E7FB-4430-8112-6B7DA44580D4}" srcOrd="0" destOrd="0" presId="urn:microsoft.com/office/officeart/2005/8/layout/vList2"/>
    <dgm:cxn modelId="{131B9CBF-9525-4346-8B7A-EC364F361DFF}" type="presOf" srcId="{A30C9DCD-11EB-4276-AA17-AED3009E719E}" destId="{0A8E3EFD-5B9C-4970-8B33-F0343B5A133D}" srcOrd="0" destOrd="0" presId="urn:microsoft.com/office/officeart/2005/8/layout/vList2"/>
    <dgm:cxn modelId="{F493F6C0-DCEB-448B-94C4-15FBFD5AE8B6}" type="presOf" srcId="{ADB965CF-9FC9-4857-BECF-9D6B4F0C7C90}" destId="{B1661C0E-7A3B-4155-B8CE-09D393D0EE75}" srcOrd="0" destOrd="0" presId="urn:microsoft.com/office/officeart/2005/8/layout/vList2"/>
    <dgm:cxn modelId="{706D62E5-D825-46CA-8BB0-A1ED42DF8A38}" srcId="{37204959-92D1-4B24-9FFC-A1D5633B8BEC}" destId="{ADB965CF-9FC9-4857-BECF-9D6B4F0C7C90}" srcOrd="0" destOrd="0" parTransId="{D3BA8C0B-2EF5-4E8F-B79A-AFDDF63E84DD}" sibTransId="{6E5E0823-842A-482E-9FFC-0B1864323EF6}"/>
    <dgm:cxn modelId="{49CC52F9-3AE7-4975-9394-3258A310E916}" srcId="{37204959-92D1-4B24-9FFC-A1D5633B8BEC}" destId="{4418AD89-4AD3-4E50-8B99-555A658894E6}" srcOrd="1" destOrd="0" parTransId="{98BC32D1-87EA-4A63-9FE8-809EBBDE9F4B}" sibTransId="{F3A2A96E-AF38-499F-860D-01883DB1722C}"/>
    <dgm:cxn modelId="{57A9B69B-A722-446E-A30B-56201A69CBB9}" type="presParOf" srcId="{1330B659-5169-4555-88AB-5D5CB55DA600}" destId="{B1661C0E-7A3B-4155-B8CE-09D393D0EE75}" srcOrd="0" destOrd="0" presId="urn:microsoft.com/office/officeart/2005/8/layout/vList2"/>
    <dgm:cxn modelId="{4A6EC4D0-1E13-43F9-9F69-5C8B4F474A7C}" type="presParOf" srcId="{1330B659-5169-4555-88AB-5D5CB55DA600}" destId="{571CB46A-3907-455F-9301-FC0538BEE30C}" srcOrd="1" destOrd="0" presId="urn:microsoft.com/office/officeart/2005/8/layout/vList2"/>
    <dgm:cxn modelId="{1AA1684B-7C2A-437C-A8A8-5A2B5CFC2132}" type="presParOf" srcId="{1330B659-5169-4555-88AB-5D5CB55DA600}" destId="{73EE06CC-A482-412A-BC8E-A6468691A4FE}" srcOrd="2" destOrd="0" presId="urn:microsoft.com/office/officeart/2005/8/layout/vList2"/>
    <dgm:cxn modelId="{63C6F89C-D347-4F1D-AB42-90EA8BF82D86}" type="presParOf" srcId="{1330B659-5169-4555-88AB-5D5CB55DA600}" destId="{F360D801-227F-42B5-8BE8-3E7C66D92B45}" srcOrd="3" destOrd="0" presId="urn:microsoft.com/office/officeart/2005/8/layout/vList2"/>
    <dgm:cxn modelId="{70C24B48-E750-40CA-A224-62299B7208CB}" type="presParOf" srcId="{1330B659-5169-4555-88AB-5D5CB55DA600}" destId="{9DC6EA06-2D02-4DC0-BE4E-413D2BBB4823}" srcOrd="4" destOrd="0" presId="urn:microsoft.com/office/officeart/2005/8/layout/vList2"/>
    <dgm:cxn modelId="{276BD214-CA41-47C8-91C1-7326DFC363EF}" type="presParOf" srcId="{1330B659-5169-4555-88AB-5D5CB55DA600}" destId="{E9D01378-940C-4393-AC27-64F0321EA8A6}" srcOrd="5" destOrd="0" presId="urn:microsoft.com/office/officeart/2005/8/layout/vList2"/>
    <dgm:cxn modelId="{C913ED06-7249-4DD0-AE1F-5C502A9F4A67}" type="presParOf" srcId="{1330B659-5169-4555-88AB-5D5CB55DA600}" destId="{0A8E3EFD-5B9C-4970-8B33-F0343B5A133D}" srcOrd="6" destOrd="0" presId="urn:microsoft.com/office/officeart/2005/8/layout/vList2"/>
    <dgm:cxn modelId="{607AB040-8B9D-4456-8078-BC64B6E1679B}" type="presParOf" srcId="{1330B659-5169-4555-88AB-5D5CB55DA600}" destId="{59CAAC3B-7C8D-4D08-8B26-3A45854AECA9}" srcOrd="7" destOrd="0" presId="urn:microsoft.com/office/officeart/2005/8/layout/vList2"/>
    <dgm:cxn modelId="{23F82F70-B16A-40AB-8EBD-95BF94EB5ED4}" type="presParOf" srcId="{1330B659-5169-4555-88AB-5D5CB55DA600}" destId="{8B6EFC2E-E7FB-4430-8112-6B7DA44580D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9ECDC7-F2C1-46CC-8380-3A97C6C4D422}">
      <dsp:nvSpPr>
        <dsp:cNvPr id="0" name=""/>
        <dsp:cNvSpPr/>
      </dsp:nvSpPr>
      <dsp:spPr>
        <a:xfrm>
          <a:off x="0" y="1826"/>
          <a:ext cx="5212080" cy="594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CF69E-D9CF-424A-AE25-DC0F0D76F2A9}">
      <dsp:nvSpPr>
        <dsp:cNvPr id="0" name=""/>
        <dsp:cNvSpPr/>
      </dsp:nvSpPr>
      <dsp:spPr>
        <a:xfrm>
          <a:off x="17980" y="15200"/>
          <a:ext cx="32692" cy="326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13396F-E940-4457-B009-061389464FC0}">
      <dsp:nvSpPr>
        <dsp:cNvPr id="0" name=""/>
        <dsp:cNvSpPr/>
      </dsp:nvSpPr>
      <dsp:spPr>
        <a:xfrm>
          <a:off x="68653" y="1826"/>
          <a:ext cx="4878285" cy="1783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723" tIns="188723" rIns="188723" bIns="188723" numCol="1" spcCol="1270" anchor="ctr" anchorCtr="0">
          <a:noAutofit/>
        </a:bodyPr>
        <a:lstStyle/>
        <a:p>
          <a:pPr marL="0" lvl="0" indent="0" algn="l" defTabSz="622300">
            <a:lnSpc>
              <a:spcPct val="100000"/>
            </a:lnSpc>
            <a:spcBef>
              <a:spcPct val="0"/>
            </a:spcBef>
            <a:spcAft>
              <a:spcPct val="35000"/>
            </a:spcAft>
            <a:buNone/>
          </a:pPr>
          <a:r>
            <a:rPr lang="en-US" sz="1400" b="1" kern="1200"/>
            <a:t>What is a Red-Black Tree?</a:t>
          </a:r>
          <a:endParaRPr lang="en-US" sz="1400" kern="1200"/>
        </a:p>
      </dsp:txBody>
      <dsp:txXfrm>
        <a:off x="68653" y="1826"/>
        <a:ext cx="4878285" cy="1783207"/>
      </dsp:txXfrm>
    </dsp:sp>
    <dsp:sp modelId="{7FDE157B-778A-472A-9D89-A89E98A78095}">
      <dsp:nvSpPr>
        <dsp:cNvPr id="0" name=""/>
        <dsp:cNvSpPr/>
      </dsp:nvSpPr>
      <dsp:spPr>
        <a:xfrm>
          <a:off x="0" y="1954862"/>
          <a:ext cx="5212080" cy="594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978FC8-C814-453F-984B-CBB46E7D74BE}">
      <dsp:nvSpPr>
        <dsp:cNvPr id="0" name=""/>
        <dsp:cNvSpPr/>
      </dsp:nvSpPr>
      <dsp:spPr>
        <a:xfrm>
          <a:off x="17980" y="1968236"/>
          <a:ext cx="32692" cy="326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DBB125-5C86-42B2-961D-653335C33BC3}">
      <dsp:nvSpPr>
        <dsp:cNvPr id="0" name=""/>
        <dsp:cNvSpPr/>
      </dsp:nvSpPr>
      <dsp:spPr>
        <a:xfrm>
          <a:off x="68653" y="1954862"/>
          <a:ext cx="4878285" cy="1783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723" tIns="188723" rIns="188723" bIns="188723" numCol="1" spcCol="1270" anchor="ctr" anchorCtr="0">
          <a:noAutofit/>
        </a:bodyPr>
        <a:lstStyle/>
        <a:p>
          <a:pPr marL="0" lvl="0" indent="0" algn="l" defTabSz="622300">
            <a:lnSpc>
              <a:spcPct val="100000"/>
            </a:lnSpc>
            <a:spcBef>
              <a:spcPct val="0"/>
            </a:spcBef>
            <a:spcAft>
              <a:spcPct val="35000"/>
            </a:spcAft>
            <a:buNone/>
          </a:pPr>
          <a:r>
            <a:rPr lang="en-US" sz="1400" kern="1200"/>
            <a:t>A </a:t>
          </a:r>
          <a:r>
            <a:rPr lang="en-US" sz="1400" b="1" kern="1200"/>
            <a:t>Red-Black Tree</a:t>
          </a:r>
          <a:r>
            <a:rPr lang="en-US" sz="1400" kern="1200"/>
            <a:t> is a type of </a:t>
          </a:r>
          <a:r>
            <a:rPr lang="en-US" sz="1400" b="1" kern="1200"/>
            <a:t>self-balancing binary search tree</a:t>
          </a:r>
          <a:r>
            <a:rPr lang="en-US" sz="1400" kern="1200"/>
            <a:t> where each node has an extra bit for </a:t>
          </a:r>
          <a:r>
            <a:rPr lang="en-US" sz="1400" b="1" kern="1200"/>
            <a:t>color</a:t>
          </a:r>
          <a:r>
            <a:rPr lang="en-US" sz="1400" kern="1200"/>
            <a:t>—either red or black.</a:t>
          </a:r>
          <a:br>
            <a:rPr lang="en-US" sz="1400" kern="1200"/>
          </a:br>
          <a:r>
            <a:rPr lang="en-US" sz="1400" kern="1200"/>
            <a:t>This color is used to enforce </a:t>
          </a:r>
          <a:r>
            <a:rPr lang="en-US" sz="1400" b="1" kern="1200"/>
            <a:t>balance rules</a:t>
          </a:r>
          <a:r>
            <a:rPr lang="en-US" sz="1400" kern="1200"/>
            <a:t> that keep the tree's height logarithmic, ensuring fast operations. It supports insert, delete and search in O(log n) time, Maintains a balanced structure automatically and balance is preserved through rotations and recoloring.</a:t>
          </a:r>
        </a:p>
      </dsp:txBody>
      <dsp:txXfrm>
        <a:off x="68653" y="1954862"/>
        <a:ext cx="4878285" cy="17832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661C0E-7A3B-4155-B8CE-09D393D0EE75}">
      <dsp:nvSpPr>
        <dsp:cNvPr id="0" name=""/>
        <dsp:cNvSpPr/>
      </dsp:nvSpPr>
      <dsp:spPr>
        <a:xfrm>
          <a:off x="0" y="26654"/>
          <a:ext cx="6581776" cy="89505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Red-black trees are used to implement associative arrays and set data structures in many programming languages, such as Java's Tree Map and Tree Set, and C++'s std::map and std::set.</a:t>
          </a:r>
        </a:p>
      </dsp:txBody>
      <dsp:txXfrm>
        <a:off x="43693" y="70347"/>
        <a:ext cx="6494390" cy="807664"/>
      </dsp:txXfrm>
    </dsp:sp>
    <dsp:sp modelId="{73EE06CC-A482-412A-BC8E-A6468691A4FE}">
      <dsp:nvSpPr>
        <dsp:cNvPr id="0" name=""/>
        <dsp:cNvSpPr/>
      </dsp:nvSpPr>
      <dsp:spPr>
        <a:xfrm>
          <a:off x="0" y="970665"/>
          <a:ext cx="6581776" cy="895050"/>
        </a:xfrm>
        <a:prstGeom prst="roundRect">
          <a:avLst/>
        </a:prstGeom>
        <a:solidFill>
          <a:schemeClr val="accent5">
            <a:hueOff val="4752235"/>
            <a:satOff val="-6665"/>
            <a:lumOff val="-68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They are used in memory management within operating systems, particularly in the Linux kernel for efficiently organizing and searching ranges of free memory.</a:t>
          </a:r>
        </a:p>
      </dsp:txBody>
      <dsp:txXfrm>
        <a:off x="43693" y="1014358"/>
        <a:ext cx="6494390" cy="807664"/>
      </dsp:txXfrm>
    </dsp:sp>
    <dsp:sp modelId="{9DC6EA06-2D02-4DC0-BE4E-413D2BBB4823}">
      <dsp:nvSpPr>
        <dsp:cNvPr id="0" name=""/>
        <dsp:cNvSpPr/>
      </dsp:nvSpPr>
      <dsp:spPr>
        <a:xfrm>
          <a:off x="0" y="1914675"/>
          <a:ext cx="6581776" cy="895050"/>
        </a:xfrm>
        <a:prstGeom prst="roundRect">
          <a:avLst/>
        </a:prstGeom>
        <a:solidFill>
          <a:schemeClr val="accent5">
            <a:hueOff val="9504470"/>
            <a:satOff val="-13330"/>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Red-black trees are employed in process scheduling algorithms in operating systems, where tasks need to be efficiently inserted, removed, and searched based on priority.</a:t>
          </a:r>
        </a:p>
      </dsp:txBody>
      <dsp:txXfrm>
        <a:off x="43693" y="1958368"/>
        <a:ext cx="6494390" cy="807664"/>
      </dsp:txXfrm>
    </dsp:sp>
    <dsp:sp modelId="{0A8E3EFD-5B9C-4970-8B33-F0343B5A133D}">
      <dsp:nvSpPr>
        <dsp:cNvPr id="0" name=""/>
        <dsp:cNvSpPr/>
      </dsp:nvSpPr>
      <dsp:spPr>
        <a:xfrm>
          <a:off x="0" y="2858685"/>
          <a:ext cx="6581776" cy="895050"/>
        </a:xfrm>
        <a:prstGeom prst="roundRect">
          <a:avLst/>
        </a:prstGeom>
        <a:solidFill>
          <a:schemeClr val="accent5">
            <a:hueOff val="14256705"/>
            <a:satOff val="-19995"/>
            <a:lumOff val="-206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They are utilized in database management systems for implementing efficient indexing structures, allowing for fast insertion, deletion, and lookup operations.</a:t>
          </a:r>
        </a:p>
      </dsp:txBody>
      <dsp:txXfrm>
        <a:off x="43693" y="2902378"/>
        <a:ext cx="6494390" cy="807664"/>
      </dsp:txXfrm>
    </dsp:sp>
    <dsp:sp modelId="{8B6EFC2E-E7FB-4430-8112-6B7DA44580D4}">
      <dsp:nvSpPr>
        <dsp:cNvPr id="0" name=""/>
        <dsp:cNvSpPr/>
      </dsp:nvSpPr>
      <dsp:spPr>
        <a:xfrm>
          <a:off x="0" y="3802695"/>
          <a:ext cx="6581776" cy="895050"/>
        </a:xfrm>
        <a:prstGeom prst="roundRect">
          <a:avLst/>
        </a:prstGeom>
        <a:solidFill>
          <a:schemeClr val="accent5">
            <a:hueOff val="19008940"/>
            <a:satOff val="-26660"/>
            <a:lumOff val="-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Red-black trees are used to implement symbol tables in compilers and interpreters, enabling efficient storage and retrieval of variable and function names</a:t>
          </a:r>
        </a:p>
      </dsp:txBody>
      <dsp:txXfrm>
        <a:off x="43693" y="3846388"/>
        <a:ext cx="6494390" cy="80766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11/12/2025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36859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11/12/2025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05903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11/12/2025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89749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11/12/2025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38560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11/12/2025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9955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11/12/2025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38904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11/12/2025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34702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11/12/2025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69004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11/12/2025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34236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11/12/2025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74981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11/12/2025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51001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11/12/2025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2175061"/>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68" r:id="rId6"/>
    <p:sldLayoutId id="2147483764" r:id="rId7"/>
    <p:sldLayoutId id="2147483765" r:id="rId8"/>
    <p:sldLayoutId id="2147483766" r:id="rId9"/>
    <p:sldLayoutId id="2147483767" r:id="rId10"/>
    <p:sldLayoutId id="2147483769"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hyperlink" Target="https://www.alamy.com/problem-solving-concept-a-man-thinks-and-solves-a-problem-a-boy-with-laptop-a-luminous-bulb-as-symbol-of-the-appearance-of-a-creative-idea-cartoon-image387800933.html" TargetMode="Externa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hyperlink" Target="https://medium.com/@ben.tom.vincent/why-use-a-red-black-tree-over-a-regular-binary-search-tree-a63857916907" TargetMode="External"/><Relationship Id="rId5" Type="http://schemas.openxmlformats.org/officeDocument/2006/relationships/hyperlink" Target="https://www.geeksforgeeks.org/cpp/red-black-tree-in-cpp/" TargetMode="External"/><Relationship Id="rId4" Type="http://schemas.openxmlformats.org/officeDocument/2006/relationships/hyperlink" Target="https://github.com/Eniolaakinola/Red-Black-Trees.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779A52-115C-6875-3368-78E4B9FCC341}"/>
              </a:ext>
            </a:extLst>
          </p:cNvPr>
          <p:cNvSpPr>
            <a:spLocks noGrp="1"/>
          </p:cNvSpPr>
          <p:nvPr>
            <p:ph type="ctrTitle"/>
          </p:nvPr>
        </p:nvSpPr>
        <p:spPr>
          <a:xfrm>
            <a:off x="703400" y="871758"/>
            <a:ext cx="5227171" cy="3871143"/>
          </a:xfrm>
        </p:spPr>
        <p:txBody>
          <a:bodyPr>
            <a:normAutofit/>
          </a:bodyPr>
          <a:lstStyle/>
          <a:p>
            <a:r>
              <a:rPr lang="en-US">
                <a:cs typeface="Times New Roman" panose="02020603050405020304" pitchFamily="18" charset="0"/>
              </a:rPr>
              <a:t>Red Black Trees</a:t>
            </a:r>
            <a:endParaRPr lang="en-US" dirty="0">
              <a:cs typeface="Times New Roman" panose="02020603050405020304" pitchFamily="18" charset="0"/>
            </a:endParaRPr>
          </a:p>
        </p:txBody>
      </p:sp>
      <p:sp>
        <p:nvSpPr>
          <p:cNvPr id="3" name="Subtitle 2">
            <a:extLst>
              <a:ext uri="{FF2B5EF4-FFF2-40B4-BE49-F238E27FC236}">
                <a16:creationId xmlns:a16="http://schemas.microsoft.com/office/drawing/2014/main" id="{ABC14C47-322E-D04E-B1D3-FF489A2CC78B}"/>
              </a:ext>
            </a:extLst>
          </p:cNvPr>
          <p:cNvSpPr>
            <a:spLocks noGrp="1"/>
          </p:cNvSpPr>
          <p:nvPr>
            <p:ph type="subTitle" idx="1"/>
          </p:nvPr>
        </p:nvSpPr>
        <p:spPr>
          <a:xfrm>
            <a:off x="721688" y="4785543"/>
            <a:ext cx="4857857" cy="1005657"/>
          </a:xfrm>
        </p:spPr>
        <p:txBody>
          <a:bodyPr>
            <a:normAutofit/>
          </a:bodyPr>
          <a:lstStyle/>
          <a:p>
            <a:r>
              <a:rPr lang="en-US">
                <a:latin typeface="Times New Roman" panose="02020603050405020304" pitchFamily="18" charset="0"/>
                <a:cs typeface="Times New Roman" panose="02020603050405020304" pitchFamily="18" charset="0"/>
              </a:rPr>
              <a:t>A Self-Balancing Binary Tree</a:t>
            </a:r>
            <a:endParaRPr lang="en-US" dirty="0">
              <a:latin typeface="Times New Roman" panose="02020603050405020304" pitchFamily="18" charset="0"/>
              <a:cs typeface="Times New Roman" panose="02020603050405020304" pitchFamily="18" charset="0"/>
            </a:endParaRPr>
          </a:p>
        </p:txBody>
      </p:sp>
      <p:cxnSp>
        <p:nvCxnSpPr>
          <p:cNvPr id="32" name="Straight Connector 3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12A8B722-CA6C-C89B-897D-313DE5379FE6}"/>
              </a:ext>
            </a:extLst>
          </p:cNvPr>
          <p:cNvPicPr>
            <a:picLocks noChangeAspect="1"/>
          </p:cNvPicPr>
          <p:nvPr/>
        </p:nvPicPr>
        <p:blipFill>
          <a:blip r:embed="rId2"/>
          <a:srcRect l="19070" r="25470" b="2"/>
          <a:stretch>
            <a:fillRect/>
          </a:stretch>
        </p:blipFill>
        <p:spPr>
          <a:xfrm>
            <a:off x="6515100" y="10"/>
            <a:ext cx="5676900" cy="6857990"/>
          </a:xfrm>
          <a:prstGeom prst="rect">
            <a:avLst/>
          </a:prstGeom>
        </p:spPr>
      </p:pic>
    </p:spTree>
    <p:extLst>
      <p:ext uri="{BB962C8B-B14F-4D97-AF65-F5344CB8AC3E}">
        <p14:creationId xmlns:p14="http://schemas.microsoft.com/office/powerpoint/2010/main" val="230388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898D0-CBED-E62F-0A4B-1745A830ACFE}"/>
              </a:ext>
            </a:extLst>
          </p:cNvPr>
          <p:cNvSpPr>
            <a:spLocks noGrp="1"/>
          </p:cNvSpPr>
          <p:nvPr>
            <p:ph type="title"/>
          </p:nvPr>
        </p:nvSpPr>
        <p:spPr/>
        <p:txBody>
          <a:bodyPr/>
          <a:lstStyle/>
          <a:p>
            <a:pPr algn="ctr"/>
            <a:r>
              <a:rPr lang="en-US" dirty="0"/>
              <a:t>Definition</a:t>
            </a:r>
          </a:p>
        </p:txBody>
      </p:sp>
      <p:graphicFrame>
        <p:nvGraphicFramePr>
          <p:cNvPr id="8" name="Content Placeholder 2">
            <a:extLst>
              <a:ext uri="{FF2B5EF4-FFF2-40B4-BE49-F238E27FC236}">
                <a16:creationId xmlns:a16="http://schemas.microsoft.com/office/drawing/2014/main" id="{694B0635-B6F0-F261-B484-73CE27E7DDCF}"/>
              </a:ext>
            </a:extLst>
          </p:cNvPr>
          <p:cNvGraphicFramePr>
            <a:graphicFrameLocks noGrp="1"/>
          </p:cNvGraphicFramePr>
          <p:nvPr>
            <p:ph sz="half" idx="1"/>
          </p:nvPr>
        </p:nvGraphicFramePr>
        <p:xfrm>
          <a:off x="704088" y="2221992"/>
          <a:ext cx="5212080"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5">
            <a:extLst>
              <a:ext uri="{FF2B5EF4-FFF2-40B4-BE49-F238E27FC236}">
                <a16:creationId xmlns:a16="http://schemas.microsoft.com/office/drawing/2014/main" id="{2D412D62-FA4A-A59D-2C74-6D019FD5AC09}"/>
              </a:ext>
            </a:extLst>
          </p:cNvPr>
          <p:cNvSpPr>
            <a:spLocks noGrp="1"/>
          </p:cNvSpPr>
          <p:nvPr>
            <p:ph sz="half" idx="2"/>
          </p:nvPr>
        </p:nvSpPr>
        <p:spPr/>
        <p:txBody>
          <a:bodyPr>
            <a:normAutofit fontScale="85000" lnSpcReduction="10000"/>
          </a:bodyPr>
          <a:lstStyle/>
          <a:p>
            <a:pPr marL="0" indent="0" fontAlgn="base">
              <a:buNone/>
            </a:pPr>
            <a:r>
              <a:rPr lang="en-US" sz="2800" b="1" dirty="0">
                <a:latin typeface="Times New Roman" panose="02020603050405020304" pitchFamily="18" charset="0"/>
                <a:cs typeface="Times New Roman" panose="02020603050405020304" pitchFamily="18" charset="0"/>
              </a:rPr>
              <a:t>Properties of Red-Black Trees</a:t>
            </a:r>
          </a:p>
          <a:p>
            <a:pPr marL="0" indent="0" fontAlgn="base">
              <a:buNone/>
            </a:pPr>
            <a:r>
              <a:rPr lang="en-US" dirty="0">
                <a:latin typeface="Times New Roman" panose="02020603050405020304" pitchFamily="18" charset="0"/>
                <a:cs typeface="Times New Roman" panose="02020603050405020304" pitchFamily="18" charset="0"/>
              </a:rPr>
              <a:t>A Red-Black Tree have the following properties:</a:t>
            </a:r>
          </a:p>
          <a:p>
            <a:pPr fontAlgn="base"/>
            <a:r>
              <a:rPr lang="en-US" b="1" dirty="0">
                <a:latin typeface="Times New Roman" panose="02020603050405020304" pitchFamily="18" charset="0"/>
                <a:cs typeface="Times New Roman" panose="02020603050405020304" pitchFamily="18" charset="0"/>
              </a:rPr>
              <a:t>Node Color</a:t>
            </a:r>
            <a:r>
              <a:rPr lang="en-US" dirty="0">
                <a:latin typeface="Times New Roman" panose="02020603050405020304" pitchFamily="18" charset="0"/>
                <a:cs typeface="Times New Roman" panose="02020603050405020304" pitchFamily="18" charset="0"/>
              </a:rPr>
              <a:t>: Each node is either red or </a:t>
            </a:r>
            <a:r>
              <a:rPr lang="en-US" b="1" dirty="0">
                <a:latin typeface="Times New Roman" panose="02020603050405020304" pitchFamily="18" charset="0"/>
                <a:cs typeface="Times New Roman" panose="02020603050405020304" pitchFamily="18" charset="0"/>
              </a:rPr>
              <a:t>black</a:t>
            </a:r>
            <a:r>
              <a:rPr lang="en-US" dirty="0">
                <a:latin typeface="Times New Roman" panose="02020603050405020304" pitchFamily="18" charset="0"/>
                <a:cs typeface="Times New Roman" panose="02020603050405020304" pitchFamily="18" charset="0"/>
              </a:rPr>
              <a:t>.</a:t>
            </a:r>
          </a:p>
          <a:p>
            <a:pPr fontAlgn="base"/>
            <a:r>
              <a:rPr lang="en-US" b="1" dirty="0">
                <a:latin typeface="Times New Roman" panose="02020603050405020304" pitchFamily="18" charset="0"/>
                <a:cs typeface="Times New Roman" panose="02020603050405020304" pitchFamily="18" charset="0"/>
              </a:rPr>
              <a:t>Root Property</a:t>
            </a:r>
            <a:r>
              <a:rPr lang="en-US" dirty="0">
                <a:latin typeface="Times New Roman" panose="02020603050405020304" pitchFamily="18" charset="0"/>
                <a:cs typeface="Times New Roman" panose="02020603050405020304" pitchFamily="18" charset="0"/>
              </a:rPr>
              <a:t>: The root of the tree is always </a:t>
            </a:r>
            <a:r>
              <a:rPr lang="en-US" b="1" dirty="0">
                <a:latin typeface="Times New Roman" panose="02020603050405020304" pitchFamily="18" charset="0"/>
                <a:cs typeface="Times New Roman" panose="02020603050405020304" pitchFamily="18" charset="0"/>
              </a:rPr>
              <a:t>black</a:t>
            </a:r>
            <a:r>
              <a:rPr lang="en-US" dirty="0">
                <a:latin typeface="Times New Roman" panose="02020603050405020304" pitchFamily="18" charset="0"/>
                <a:cs typeface="Times New Roman" panose="02020603050405020304" pitchFamily="18" charset="0"/>
              </a:rPr>
              <a:t>.</a:t>
            </a:r>
          </a:p>
          <a:p>
            <a:pPr fontAlgn="base"/>
            <a:r>
              <a:rPr lang="en-US" b="1" dirty="0">
                <a:latin typeface="Times New Roman" panose="02020603050405020304" pitchFamily="18" charset="0"/>
                <a:cs typeface="Times New Roman" panose="02020603050405020304" pitchFamily="18" charset="0"/>
              </a:rPr>
              <a:t>Red Property</a:t>
            </a:r>
            <a:r>
              <a:rPr lang="en-US" dirty="0">
                <a:latin typeface="Times New Roman" panose="02020603050405020304" pitchFamily="18" charset="0"/>
                <a:cs typeface="Times New Roman" panose="02020603050405020304" pitchFamily="18" charset="0"/>
              </a:rPr>
              <a:t>: Red nodes cannot have red children (no two consecutive red nodes on any path).</a:t>
            </a:r>
          </a:p>
          <a:p>
            <a:pPr fontAlgn="base"/>
            <a:r>
              <a:rPr lang="en-US" b="1" dirty="0">
                <a:latin typeface="Times New Roman" panose="02020603050405020304" pitchFamily="18" charset="0"/>
                <a:cs typeface="Times New Roman" panose="02020603050405020304" pitchFamily="18" charset="0"/>
              </a:rPr>
              <a:t>Black Property</a:t>
            </a:r>
            <a:r>
              <a:rPr lang="en-US" dirty="0">
                <a:latin typeface="Times New Roman" panose="02020603050405020304" pitchFamily="18" charset="0"/>
                <a:cs typeface="Times New Roman" panose="02020603050405020304" pitchFamily="18" charset="0"/>
              </a:rPr>
              <a:t>: Every path from a node to its descendant null nodes (leaves) has the same number of </a:t>
            </a:r>
            <a:r>
              <a:rPr lang="en-US" b="1" dirty="0">
                <a:latin typeface="Times New Roman" panose="02020603050405020304" pitchFamily="18" charset="0"/>
                <a:cs typeface="Times New Roman" panose="02020603050405020304" pitchFamily="18" charset="0"/>
              </a:rPr>
              <a:t>black</a:t>
            </a:r>
            <a:r>
              <a:rPr lang="en-US" dirty="0">
                <a:latin typeface="Times New Roman" panose="02020603050405020304" pitchFamily="18" charset="0"/>
                <a:cs typeface="Times New Roman" panose="02020603050405020304" pitchFamily="18" charset="0"/>
              </a:rPr>
              <a:t> nodes.</a:t>
            </a:r>
          </a:p>
          <a:p>
            <a:pPr fontAlgn="base"/>
            <a:r>
              <a:rPr lang="en-US" b="1" dirty="0">
                <a:latin typeface="Times New Roman" panose="02020603050405020304" pitchFamily="18" charset="0"/>
                <a:cs typeface="Times New Roman" panose="02020603050405020304" pitchFamily="18" charset="0"/>
              </a:rPr>
              <a:t>Leaf Property</a:t>
            </a:r>
            <a:r>
              <a:rPr lang="en-US" dirty="0">
                <a:latin typeface="Times New Roman" panose="02020603050405020304" pitchFamily="18" charset="0"/>
                <a:cs typeface="Times New Roman" panose="02020603050405020304" pitchFamily="18" charset="0"/>
              </a:rPr>
              <a:t>: All leaves (NIL nodes) are </a:t>
            </a:r>
            <a:r>
              <a:rPr lang="en-US" b="1" dirty="0">
                <a:latin typeface="Times New Roman" panose="02020603050405020304" pitchFamily="18" charset="0"/>
                <a:cs typeface="Times New Roman" panose="02020603050405020304" pitchFamily="18" charset="0"/>
              </a:rPr>
              <a:t>black</a:t>
            </a:r>
            <a:r>
              <a:rPr lang="en-US"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694916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0" name="Rectangle 3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FF4D52-2B26-771E-2107-39BEA7C8A3C6}"/>
              </a:ext>
            </a:extLst>
          </p:cNvPr>
          <p:cNvSpPr>
            <a:spLocks noGrp="1"/>
          </p:cNvSpPr>
          <p:nvPr>
            <p:ph type="title"/>
          </p:nvPr>
        </p:nvSpPr>
        <p:spPr>
          <a:xfrm>
            <a:off x="704088" y="914400"/>
            <a:ext cx="10780776" cy="1180210"/>
          </a:xfrm>
        </p:spPr>
        <p:txBody>
          <a:bodyPr vert="horz" lIns="91440" tIns="45720" rIns="91440" bIns="45720" rtlCol="0" anchor="t">
            <a:normAutofit/>
          </a:bodyPr>
          <a:lstStyle/>
          <a:p>
            <a:r>
              <a:rPr lang="en-US" sz="4000" dirty="0"/>
              <a:t>Example of Red-black tree</a:t>
            </a:r>
          </a:p>
        </p:txBody>
      </p:sp>
      <p:cxnSp>
        <p:nvCxnSpPr>
          <p:cNvPr id="42" name="Straight Connector 4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Placeholder 6" descr="A diagram of a tree&#10;&#10;AI-generated content may be incorrect.">
            <a:extLst>
              <a:ext uri="{FF2B5EF4-FFF2-40B4-BE49-F238E27FC236}">
                <a16:creationId xmlns:a16="http://schemas.microsoft.com/office/drawing/2014/main" id="{7267E8FE-DF19-A125-FCF9-277C2561896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r="-1" b="6438"/>
          <a:stretch>
            <a:fillRect/>
          </a:stretch>
        </p:blipFill>
        <p:spPr>
          <a:xfrm>
            <a:off x="800098" y="3670631"/>
            <a:ext cx="5549902" cy="2492422"/>
          </a:xfrm>
          <a:prstGeom prst="rect">
            <a:avLst/>
          </a:prstGeom>
        </p:spPr>
      </p:pic>
      <p:sp>
        <p:nvSpPr>
          <p:cNvPr id="39" name="Rectangle 1">
            <a:extLst>
              <a:ext uri="{FF2B5EF4-FFF2-40B4-BE49-F238E27FC236}">
                <a16:creationId xmlns:a16="http://schemas.microsoft.com/office/drawing/2014/main" id="{65498DCC-BD62-393B-3597-6C511AC393F1}"/>
              </a:ext>
            </a:extLst>
          </p:cNvPr>
          <p:cNvSpPr>
            <a:spLocks noGrp="1" noChangeArrowheads="1"/>
          </p:cNvSpPr>
          <p:nvPr>
            <p:ph type="body" sz="half" idx="2"/>
          </p:nvPr>
        </p:nvSpPr>
        <p:spPr bwMode="auto">
          <a:xfrm>
            <a:off x="6664960" y="2346960"/>
            <a:ext cx="4819903" cy="37754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fontAlgn="base">
              <a:spcBef>
                <a:spcPct val="0"/>
              </a:spcBef>
              <a:spcAft>
                <a:spcPts val="600"/>
              </a:spcAft>
              <a:buClrTx/>
              <a:buSzTx/>
              <a:buFont typeface="Arial" panose="020B0604020202020204" pitchFamily="34" charset="0"/>
              <a:buChar char="•"/>
              <a:tabLst/>
            </a:pPr>
            <a:r>
              <a:rPr kumimoji="0" lang="en-US" altLang="en-US" b="1" i="0" u="none" strike="noStrike" cap="none" normalizeH="0" baseline="0">
                <a:ln>
                  <a:noFill/>
                </a:ln>
                <a:effectLst/>
              </a:rPr>
              <a:t>Why Red-Black Trees? </a:t>
            </a:r>
          </a:p>
          <a:p>
            <a:pPr marL="0" marR="0" lvl="0" indent="-228600" fontAlgn="base">
              <a:spcBef>
                <a:spcPct val="0"/>
              </a:spcBef>
              <a:spcAft>
                <a:spcPts val="600"/>
              </a:spcAft>
              <a:buClrTx/>
              <a:buSzTx/>
              <a:buFont typeface="Arial" panose="020B0604020202020204" pitchFamily="34" charset="0"/>
              <a:buChar char="•"/>
              <a:tabLst/>
            </a:pPr>
            <a:r>
              <a:rPr kumimoji="0" lang="en-US" altLang="en-US" b="1" i="0" u="none" strike="noStrike" cap="none" normalizeH="0" baseline="0">
                <a:ln>
                  <a:noFill/>
                </a:ln>
                <a:effectLst/>
              </a:rPr>
              <a:t>Red-Black Trees</a:t>
            </a:r>
            <a:r>
              <a:rPr kumimoji="0" lang="en-US" altLang="en-US" b="0" i="0" u="none" strike="noStrike" cap="none" normalizeH="0" baseline="0">
                <a:ln>
                  <a:noFill/>
                </a:ln>
                <a:effectLst/>
              </a:rPr>
              <a:t> </a:t>
            </a:r>
            <a:r>
              <a:rPr kumimoji="0" lang="en-US" altLang="en-US" i="0" u="none" strike="noStrike" cap="none" normalizeH="0" baseline="0">
                <a:ln>
                  <a:noFill/>
                </a:ln>
                <a:effectLst/>
              </a:rPr>
              <a:t>guarantee the tree stays approximately always balanced</a:t>
            </a:r>
            <a:br>
              <a:rPr kumimoji="0" lang="en-US" altLang="en-US" i="0" u="none" strike="noStrike" cap="none" normalizeH="0" baseline="0">
                <a:ln>
                  <a:noFill/>
                </a:ln>
                <a:effectLst/>
              </a:rPr>
            </a:br>
            <a:r>
              <a:rPr kumimoji="0" lang="en-US" altLang="en-US" i="0" u="none" strike="noStrike" cap="none" normalizeH="0" baseline="0">
                <a:ln>
                  <a:noFill/>
                </a:ln>
                <a:effectLst/>
              </a:rPr>
              <a:t>even after many inserts and deletes.</a:t>
            </a:r>
          </a:p>
          <a:p>
            <a:pPr marL="0" marR="0" lvl="0" indent="-228600" fontAlgn="base">
              <a:spcBef>
                <a:spcPct val="0"/>
              </a:spcBef>
              <a:spcAft>
                <a:spcPts val="600"/>
              </a:spcAft>
              <a:buClrTx/>
              <a:buSzTx/>
              <a:buFont typeface="Arial" panose="020B0604020202020204" pitchFamily="34" charset="0"/>
              <a:buChar char="•"/>
              <a:tabLst/>
            </a:pPr>
            <a:r>
              <a:rPr kumimoji="0" lang="en-US" altLang="en-US" i="0" u="none" strike="noStrike" cap="none" normalizeH="0" baseline="0">
                <a:ln>
                  <a:noFill/>
                </a:ln>
                <a:effectLst/>
              </a:rPr>
              <a:t>Ensures that the longest path is no more than twice as long as the shortest path.</a:t>
            </a:r>
          </a:p>
          <a:p>
            <a:pPr marL="0" marR="0" lvl="0" indent="-228600" fontAlgn="base">
              <a:spcBef>
                <a:spcPct val="0"/>
              </a:spcBef>
              <a:spcAft>
                <a:spcPts val="600"/>
              </a:spcAft>
              <a:buClrTx/>
              <a:buSzTx/>
              <a:buFont typeface="Arial" panose="020B0604020202020204" pitchFamily="34" charset="0"/>
              <a:buChar char="•"/>
              <a:tabLst/>
            </a:pPr>
            <a:r>
              <a:rPr kumimoji="0" lang="en-US" altLang="en-US" i="0" u="none" strike="noStrike" cap="none" normalizeH="0" baseline="0">
                <a:ln>
                  <a:noFill/>
                </a:ln>
                <a:effectLst/>
              </a:rPr>
              <a:t>Keeps tree height at O(log n), enabling consistently fast operations</a:t>
            </a:r>
            <a:r>
              <a:rPr lang="en-US" altLang="en-US"/>
              <a:t>.</a:t>
            </a:r>
          </a:p>
          <a:p>
            <a:pPr marL="0" marR="0" lvl="0" indent="-228600" fontAlgn="base">
              <a:spcBef>
                <a:spcPct val="0"/>
              </a:spcBef>
              <a:spcAft>
                <a:spcPts val="600"/>
              </a:spcAft>
              <a:buClrTx/>
              <a:buSzTx/>
              <a:buFont typeface="Arial" panose="020B0604020202020204" pitchFamily="34" charset="0"/>
              <a:buChar char="•"/>
              <a:tabLst/>
            </a:pPr>
            <a:endParaRPr kumimoji="0" lang="en-US" altLang="en-US" i="0" u="none" strike="noStrike" cap="none" normalizeH="0" baseline="0">
              <a:ln>
                <a:noFill/>
              </a:ln>
              <a:effectLst/>
            </a:endParaRPr>
          </a:p>
        </p:txBody>
      </p:sp>
    </p:spTree>
    <p:extLst>
      <p:ext uri="{BB962C8B-B14F-4D97-AF65-F5344CB8AC3E}">
        <p14:creationId xmlns:p14="http://schemas.microsoft.com/office/powerpoint/2010/main" val="1138903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F735CBA-126F-1DA2-3FF2-A4274ACCDAB5}"/>
              </a:ext>
            </a:extLst>
          </p:cNvPr>
          <p:cNvPicPr>
            <a:picLocks noChangeAspect="1"/>
          </p:cNvPicPr>
          <p:nvPr/>
        </p:nvPicPr>
        <p:blipFill>
          <a:blip r:embed="rId2"/>
          <a:srcRect l="8180" r="11180" b="1"/>
          <a:stretch>
            <a:fillRect/>
          </a:stretch>
        </p:blipFill>
        <p:spPr>
          <a:xfrm>
            <a:off x="20" y="10"/>
            <a:ext cx="5686740" cy="6857990"/>
          </a:xfrm>
          <a:prstGeom prst="rect">
            <a:avLst/>
          </a:prstGeom>
        </p:spPr>
      </p:pic>
      <p:cxnSp>
        <p:nvCxnSpPr>
          <p:cNvPr id="19" name="Straight Connector 18">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F55E959-6AB7-A948-0009-6670A672B858}"/>
              </a:ext>
            </a:extLst>
          </p:cNvPr>
          <p:cNvSpPr txBox="1"/>
          <p:nvPr/>
        </p:nvSpPr>
        <p:spPr>
          <a:xfrm>
            <a:off x="6290838" y="2236843"/>
            <a:ext cx="5201121" cy="3931920"/>
          </a:xfrm>
          <a:prstGeom prst="rect">
            <a:avLst/>
          </a:prstGeom>
        </p:spPr>
        <p:txBody>
          <a:bodyPr vert="horz" lIns="91440" tIns="45720" rIns="91440" bIns="45720" rtlCol="0">
            <a:normAutofit/>
          </a:bodyPr>
          <a:lstStyle/>
          <a:p>
            <a:pPr indent="-228600">
              <a:lnSpc>
                <a:spcPct val="110000"/>
              </a:lnSpc>
              <a:spcAft>
                <a:spcPts val="600"/>
              </a:spcAft>
              <a:buFont typeface="Arial" panose="020B0604020202020204" pitchFamily="34" charset="0"/>
              <a:buChar char="•"/>
            </a:pPr>
            <a:r>
              <a:rPr lang="en-US" dirty="0"/>
              <a:t>Visual Example of RedBlack Trees</a:t>
            </a:r>
            <a:endParaRPr lang="en-US"/>
          </a:p>
        </p:txBody>
      </p:sp>
    </p:spTree>
    <p:extLst>
      <p:ext uri="{BB962C8B-B14F-4D97-AF65-F5344CB8AC3E}">
        <p14:creationId xmlns:p14="http://schemas.microsoft.com/office/powerpoint/2010/main" val="2289966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604516-F583-413C-8C0B-E7944F332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
            <a:ext cx="4876800" cy="685798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18EE72-C43E-B2B2-7128-5899F518FCFA}"/>
              </a:ext>
            </a:extLst>
          </p:cNvPr>
          <p:cNvSpPr>
            <a:spLocks noGrp="1"/>
          </p:cNvSpPr>
          <p:nvPr>
            <p:ph type="title"/>
          </p:nvPr>
        </p:nvSpPr>
        <p:spPr>
          <a:xfrm>
            <a:off x="704088" y="914400"/>
            <a:ext cx="3724528" cy="3670298"/>
          </a:xfrm>
        </p:spPr>
        <p:txBody>
          <a:bodyPr vert="horz" lIns="91440" tIns="45720" rIns="91440" bIns="45720" rtlCol="0">
            <a:normAutofit/>
          </a:bodyPr>
          <a:lstStyle/>
          <a:p>
            <a:r>
              <a:rPr lang="en-US">
                <a:solidFill>
                  <a:schemeClr val="bg1"/>
                </a:solidFill>
              </a:rPr>
              <a:t>Red-Black Tree Operations</a:t>
            </a:r>
          </a:p>
        </p:txBody>
      </p:sp>
      <p:cxnSp>
        <p:nvCxnSpPr>
          <p:cNvPr id="24" name="Straight Connector 23">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E5596DC5-8721-B2ED-3C31-2438EA0ECCA9}"/>
              </a:ext>
            </a:extLst>
          </p:cNvPr>
          <p:cNvGraphicFramePr>
            <a:graphicFrameLocks noGrp="1"/>
          </p:cNvGraphicFramePr>
          <p:nvPr>
            <p:ph idx="1"/>
            <p:extLst>
              <p:ext uri="{D42A27DB-BD31-4B8C-83A1-F6EECF244321}">
                <p14:modId xmlns:p14="http://schemas.microsoft.com/office/powerpoint/2010/main" val="769439959"/>
              </p:ext>
            </p:extLst>
          </p:nvPr>
        </p:nvGraphicFramePr>
        <p:xfrm>
          <a:off x="5715000" y="881093"/>
          <a:ext cx="5676902" cy="5095817"/>
        </p:xfrm>
        <a:graphic>
          <a:graphicData uri="http://schemas.openxmlformats.org/drawingml/2006/table">
            <a:tbl>
              <a:tblPr firstRow="1" bandRow="1">
                <a:tableStyleId>{3B4B98B0-60AC-42C2-AFA5-B58CD77FA1E5}</a:tableStyleId>
              </a:tblPr>
              <a:tblGrid>
                <a:gridCol w="1251916">
                  <a:extLst>
                    <a:ext uri="{9D8B030D-6E8A-4147-A177-3AD203B41FA5}">
                      <a16:colId xmlns:a16="http://schemas.microsoft.com/office/drawing/2014/main" val="2084745500"/>
                    </a:ext>
                  </a:extLst>
                </a:gridCol>
                <a:gridCol w="1586840">
                  <a:extLst>
                    <a:ext uri="{9D8B030D-6E8A-4147-A177-3AD203B41FA5}">
                      <a16:colId xmlns:a16="http://schemas.microsoft.com/office/drawing/2014/main" val="1768936464"/>
                    </a:ext>
                  </a:extLst>
                </a:gridCol>
                <a:gridCol w="1419073">
                  <a:extLst>
                    <a:ext uri="{9D8B030D-6E8A-4147-A177-3AD203B41FA5}">
                      <a16:colId xmlns:a16="http://schemas.microsoft.com/office/drawing/2014/main" val="3564162595"/>
                    </a:ext>
                  </a:extLst>
                </a:gridCol>
                <a:gridCol w="1419073">
                  <a:extLst>
                    <a:ext uri="{9D8B030D-6E8A-4147-A177-3AD203B41FA5}">
                      <a16:colId xmlns:a16="http://schemas.microsoft.com/office/drawing/2014/main" val="2613889796"/>
                    </a:ext>
                  </a:extLst>
                </a:gridCol>
              </a:tblGrid>
              <a:tr h="675207">
                <a:tc>
                  <a:txBody>
                    <a:bodyPr/>
                    <a:lstStyle/>
                    <a:p>
                      <a:pPr algn="ctr" rtl="0" fontAlgn="base">
                        <a:spcAft>
                          <a:spcPts val="750"/>
                        </a:spcAft>
                        <a:buNone/>
                      </a:pPr>
                      <a:r>
                        <a:rPr lang="en-US" sz="1700" b="1">
                          <a:effectLst/>
                        </a:rPr>
                        <a:t>Operation</a:t>
                      </a:r>
                    </a:p>
                  </a:txBody>
                  <a:tcPr marL="46232" marR="46232" marT="57790" marB="57790" anchor="ctr"/>
                </a:tc>
                <a:tc>
                  <a:txBody>
                    <a:bodyPr/>
                    <a:lstStyle/>
                    <a:p>
                      <a:pPr algn="ctr" rtl="0" fontAlgn="base">
                        <a:spcAft>
                          <a:spcPts val="750"/>
                        </a:spcAft>
                        <a:buNone/>
                      </a:pPr>
                      <a:r>
                        <a:rPr lang="en-US" sz="1700" b="1">
                          <a:effectLst/>
                        </a:rPr>
                        <a:t>Description</a:t>
                      </a:r>
                    </a:p>
                  </a:txBody>
                  <a:tcPr marL="57790" marR="57790" marT="57790" marB="57790" anchor="ctr"/>
                </a:tc>
                <a:tc>
                  <a:txBody>
                    <a:bodyPr/>
                    <a:lstStyle/>
                    <a:p>
                      <a:pPr algn="ctr" rtl="0" fontAlgn="base">
                        <a:spcAft>
                          <a:spcPts val="750"/>
                        </a:spcAft>
                        <a:buNone/>
                      </a:pPr>
                      <a:r>
                        <a:rPr lang="en-US" sz="1700" b="1">
                          <a:effectLst/>
                        </a:rPr>
                        <a:t>Time Complexity</a:t>
                      </a:r>
                    </a:p>
                  </a:txBody>
                  <a:tcPr marL="57790" marR="57790" marT="57790" marB="57790" anchor="ctr"/>
                </a:tc>
                <a:tc>
                  <a:txBody>
                    <a:bodyPr/>
                    <a:lstStyle/>
                    <a:p>
                      <a:pPr algn="ctr" rtl="0" fontAlgn="base">
                        <a:spcAft>
                          <a:spcPts val="750"/>
                        </a:spcAft>
                        <a:buNone/>
                      </a:pPr>
                      <a:r>
                        <a:rPr lang="en-US" sz="1700" b="1">
                          <a:effectLst/>
                        </a:rPr>
                        <a:t>Space Complexity</a:t>
                      </a:r>
                    </a:p>
                  </a:txBody>
                  <a:tcPr marL="57790" marR="57790" marT="57790" marB="57790" anchor="ctr"/>
                </a:tc>
                <a:extLst>
                  <a:ext uri="{0D108BD9-81ED-4DB2-BD59-A6C34878D82A}">
                    <a16:rowId xmlns:a16="http://schemas.microsoft.com/office/drawing/2014/main" val="2385642288"/>
                  </a:ext>
                </a:extLst>
              </a:tr>
              <a:tr h="884122">
                <a:tc>
                  <a:txBody>
                    <a:bodyPr/>
                    <a:lstStyle/>
                    <a:p>
                      <a:pPr algn="ctr" rtl="0" fontAlgn="base">
                        <a:spcAft>
                          <a:spcPts val="750"/>
                        </a:spcAft>
                        <a:buNone/>
                      </a:pPr>
                      <a:r>
                        <a:rPr lang="en-US" sz="2100" b="1">
                          <a:effectLst/>
                        </a:rPr>
                        <a:t>Insert</a:t>
                      </a:r>
                    </a:p>
                  </a:txBody>
                  <a:tcPr marL="46232" marR="46232" marT="28936" marB="28936" anchor="ctr"/>
                </a:tc>
                <a:tc>
                  <a:txBody>
                    <a:bodyPr/>
                    <a:lstStyle/>
                    <a:p>
                      <a:pPr algn="ctr" rtl="0" fontAlgn="base">
                        <a:spcAft>
                          <a:spcPts val="750"/>
                        </a:spcAft>
                        <a:buNone/>
                      </a:pPr>
                      <a:r>
                        <a:rPr lang="en-US" sz="1500" b="0">
                          <a:effectLst/>
                        </a:rPr>
                        <a:t>Inserts a new element into the tree.</a:t>
                      </a:r>
                    </a:p>
                  </a:txBody>
                  <a:tcPr marL="57790" marR="57790" marT="80906" marB="80906" anchor="ctr"/>
                </a:tc>
                <a:tc>
                  <a:txBody>
                    <a:bodyPr/>
                    <a:lstStyle/>
                    <a:p>
                      <a:pPr algn="ctr" rtl="0" fontAlgn="base">
                        <a:spcAft>
                          <a:spcPts val="750"/>
                        </a:spcAft>
                        <a:buNone/>
                      </a:pPr>
                      <a:r>
                        <a:rPr lang="en-US" sz="1500" b="0">
                          <a:effectLst/>
                        </a:rPr>
                        <a:t>O(log n)</a:t>
                      </a:r>
                    </a:p>
                  </a:txBody>
                  <a:tcPr marL="57790" marR="57790" marT="80906" marB="80906" anchor="ctr"/>
                </a:tc>
                <a:tc>
                  <a:txBody>
                    <a:bodyPr/>
                    <a:lstStyle/>
                    <a:p>
                      <a:pPr algn="ctr" rtl="0" fontAlgn="base">
                        <a:spcAft>
                          <a:spcPts val="750"/>
                        </a:spcAft>
                        <a:buNone/>
                      </a:pPr>
                      <a:r>
                        <a:rPr lang="en-US" sz="1500" b="0">
                          <a:effectLst/>
                        </a:rPr>
                        <a:t>O(1)</a:t>
                      </a:r>
                    </a:p>
                  </a:txBody>
                  <a:tcPr marL="57790" marR="57790" marT="80906" marB="80906" anchor="ctr"/>
                </a:tc>
                <a:extLst>
                  <a:ext uri="{0D108BD9-81ED-4DB2-BD59-A6C34878D82A}">
                    <a16:rowId xmlns:a16="http://schemas.microsoft.com/office/drawing/2014/main" val="680713911"/>
                  </a:ext>
                </a:extLst>
              </a:tr>
              <a:tr h="884122">
                <a:tc>
                  <a:txBody>
                    <a:bodyPr/>
                    <a:lstStyle/>
                    <a:p>
                      <a:pPr algn="ctr" rtl="0" fontAlgn="base">
                        <a:spcAft>
                          <a:spcPts val="750"/>
                        </a:spcAft>
                        <a:buNone/>
                      </a:pPr>
                      <a:r>
                        <a:rPr lang="en-US" sz="2100" b="1">
                          <a:effectLst/>
                        </a:rPr>
                        <a:t>Delete node</a:t>
                      </a:r>
                    </a:p>
                  </a:txBody>
                  <a:tcPr marL="46232" marR="46232" marT="28936" marB="28936" anchor="ctr"/>
                </a:tc>
                <a:tc>
                  <a:txBody>
                    <a:bodyPr/>
                    <a:lstStyle/>
                    <a:p>
                      <a:pPr algn="ctr" rtl="0" fontAlgn="base">
                        <a:spcAft>
                          <a:spcPts val="750"/>
                        </a:spcAft>
                        <a:buNone/>
                      </a:pPr>
                      <a:r>
                        <a:rPr lang="en-US" sz="1500" b="0">
                          <a:effectLst/>
                        </a:rPr>
                        <a:t>Removes an element from the tree.</a:t>
                      </a:r>
                    </a:p>
                  </a:txBody>
                  <a:tcPr marL="57790" marR="57790" marT="80906" marB="80906" anchor="ctr"/>
                </a:tc>
                <a:tc>
                  <a:txBody>
                    <a:bodyPr/>
                    <a:lstStyle/>
                    <a:p>
                      <a:pPr algn="ctr" rtl="0" fontAlgn="base">
                        <a:spcAft>
                          <a:spcPts val="750"/>
                        </a:spcAft>
                        <a:buNone/>
                      </a:pPr>
                      <a:r>
                        <a:rPr lang="en-US" sz="1500" b="0">
                          <a:effectLst/>
                        </a:rPr>
                        <a:t>O(log n)</a:t>
                      </a:r>
                    </a:p>
                  </a:txBody>
                  <a:tcPr marL="57790" marR="57790" marT="80906" marB="80906" anchor="ctr"/>
                </a:tc>
                <a:tc>
                  <a:txBody>
                    <a:bodyPr/>
                    <a:lstStyle/>
                    <a:p>
                      <a:pPr algn="ctr" rtl="0" fontAlgn="base">
                        <a:spcAft>
                          <a:spcPts val="750"/>
                        </a:spcAft>
                        <a:buNone/>
                      </a:pPr>
                      <a:r>
                        <a:rPr lang="en-US" sz="1500" b="0">
                          <a:effectLst/>
                        </a:rPr>
                        <a:t>O(1)</a:t>
                      </a:r>
                    </a:p>
                  </a:txBody>
                  <a:tcPr marL="57790" marR="57790" marT="80906" marB="80906" anchor="ctr"/>
                </a:tc>
                <a:extLst>
                  <a:ext uri="{0D108BD9-81ED-4DB2-BD59-A6C34878D82A}">
                    <a16:rowId xmlns:a16="http://schemas.microsoft.com/office/drawing/2014/main" val="4172334752"/>
                  </a:ext>
                </a:extLst>
              </a:tr>
              <a:tr h="884122">
                <a:tc>
                  <a:txBody>
                    <a:bodyPr/>
                    <a:lstStyle/>
                    <a:p>
                      <a:pPr algn="ctr" rtl="0" fontAlgn="base">
                        <a:spcAft>
                          <a:spcPts val="750"/>
                        </a:spcAft>
                        <a:buNone/>
                      </a:pPr>
                      <a:r>
                        <a:rPr lang="en-US" sz="2100" b="1">
                          <a:effectLst/>
                        </a:rPr>
                        <a:t>Search</a:t>
                      </a:r>
                    </a:p>
                  </a:txBody>
                  <a:tcPr marL="46232" marR="46232" marT="28936" marB="28936" anchor="ctr"/>
                </a:tc>
                <a:tc>
                  <a:txBody>
                    <a:bodyPr/>
                    <a:lstStyle/>
                    <a:p>
                      <a:pPr algn="ctr" rtl="0" fontAlgn="base">
                        <a:spcAft>
                          <a:spcPts val="750"/>
                        </a:spcAft>
                        <a:buNone/>
                      </a:pPr>
                      <a:r>
                        <a:rPr lang="en-US" sz="1500" b="0">
                          <a:effectLst/>
                        </a:rPr>
                        <a:t>Searches for an element in the tree.</a:t>
                      </a:r>
                    </a:p>
                  </a:txBody>
                  <a:tcPr marL="57790" marR="57790" marT="80906" marB="80906" anchor="ctr"/>
                </a:tc>
                <a:tc>
                  <a:txBody>
                    <a:bodyPr/>
                    <a:lstStyle/>
                    <a:p>
                      <a:pPr algn="ctr" rtl="0" fontAlgn="base">
                        <a:spcAft>
                          <a:spcPts val="750"/>
                        </a:spcAft>
                        <a:buNone/>
                      </a:pPr>
                      <a:r>
                        <a:rPr lang="en-US" sz="1500" b="0">
                          <a:effectLst/>
                        </a:rPr>
                        <a:t>O(log n)</a:t>
                      </a:r>
                    </a:p>
                  </a:txBody>
                  <a:tcPr marL="57790" marR="57790" marT="80906" marB="80906" anchor="ctr"/>
                </a:tc>
                <a:tc>
                  <a:txBody>
                    <a:bodyPr/>
                    <a:lstStyle/>
                    <a:p>
                      <a:pPr algn="ctr" rtl="0" fontAlgn="base">
                        <a:spcAft>
                          <a:spcPts val="750"/>
                        </a:spcAft>
                        <a:buNone/>
                      </a:pPr>
                      <a:r>
                        <a:rPr lang="en-US" sz="1500" b="0">
                          <a:effectLst/>
                        </a:rPr>
                        <a:t>O(1)</a:t>
                      </a:r>
                    </a:p>
                  </a:txBody>
                  <a:tcPr marL="57790" marR="57790" marT="80906" marB="80906" anchor="ctr"/>
                </a:tc>
                <a:extLst>
                  <a:ext uri="{0D108BD9-81ED-4DB2-BD59-A6C34878D82A}">
                    <a16:rowId xmlns:a16="http://schemas.microsoft.com/office/drawing/2014/main" val="1123637165"/>
                  </a:ext>
                </a:extLst>
              </a:tr>
              <a:tr h="884122">
                <a:tc>
                  <a:txBody>
                    <a:bodyPr/>
                    <a:lstStyle/>
                    <a:p>
                      <a:pPr algn="ctr" rtl="0" fontAlgn="base">
                        <a:spcAft>
                          <a:spcPts val="750"/>
                        </a:spcAft>
                        <a:buNone/>
                      </a:pPr>
                      <a:r>
                        <a:rPr lang="en-US" sz="2100" b="1">
                          <a:effectLst/>
                        </a:rPr>
                        <a:t>Left Rotate</a:t>
                      </a:r>
                    </a:p>
                  </a:txBody>
                  <a:tcPr marL="46232" marR="46232" marT="28936" marB="28936" anchor="ctr"/>
                </a:tc>
                <a:tc>
                  <a:txBody>
                    <a:bodyPr/>
                    <a:lstStyle/>
                    <a:p>
                      <a:pPr algn="ctr" rtl="0" fontAlgn="base">
                        <a:spcAft>
                          <a:spcPts val="750"/>
                        </a:spcAft>
                        <a:buNone/>
                      </a:pPr>
                      <a:r>
                        <a:rPr lang="en-US" sz="1500" b="0">
                          <a:effectLst/>
                        </a:rPr>
                        <a:t>Performs a left rotation on a given node.</a:t>
                      </a:r>
                    </a:p>
                  </a:txBody>
                  <a:tcPr marL="57790" marR="57790" marT="80906" marB="80906" anchor="ctr"/>
                </a:tc>
                <a:tc>
                  <a:txBody>
                    <a:bodyPr/>
                    <a:lstStyle/>
                    <a:p>
                      <a:pPr algn="ctr" rtl="0" fontAlgn="base">
                        <a:spcAft>
                          <a:spcPts val="750"/>
                        </a:spcAft>
                        <a:buNone/>
                      </a:pPr>
                      <a:r>
                        <a:rPr lang="en-US" sz="1500" b="0">
                          <a:effectLst/>
                        </a:rPr>
                        <a:t>O(1)</a:t>
                      </a:r>
                    </a:p>
                  </a:txBody>
                  <a:tcPr marL="57790" marR="57790" marT="80906" marB="80906" anchor="ctr"/>
                </a:tc>
                <a:tc>
                  <a:txBody>
                    <a:bodyPr/>
                    <a:lstStyle/>
                    <a:p>
                      <a:pPr algn="ctr" rtl="0" fontAlgn="base">
                        <a:spcAft>
                          <a:spcPts val="750"/>
                        </a:spcAft>
                        <a:buNone/>
                      </a:pPr>
                      <a:r>
                        <a:rPr lang="en-US" sz="1500" b="0">
                          <a:effectLst/>
                        </a:rPr>
                        <a:t>O(1)</a:t>
                      </a:r>
                    </a:p>
                  </a:txBody>
                  <a:tcPr marL="57790" marR="57790" marT="80906" marB="80906" anchor="ctr"/>
                </a:tc>
                <a:extLst>
                  <a:ext uri="{0D108BD9-81ED-4DB2-BD59-A6C34878D82A}">
                    <a16:rowId xmlns:a16="http://schemas.microsoft.com/office/drawing/2014/main" val="2757242380"/>
                  </a:ext>
                </a:extLst>
              </a:tr>
              <a:tr h="884122">
                <a:tc>
                  <a:txBody>
                    <a:bodyPr/>
                    <a:lstStyle/>
                    <a:p>
                      <a:pPr algn="ctr" rtl="0" fontAlgn="base">
                        <a:spcAft>
                          <a:spcPts val="750"/>
                        </a:spcAft>
                        <a:buNone/>
                      </a:pPr>
                      <a:r>
                        <a:rPr lang="en-US" sz="2100" b="1">
                          <a:effectLst/>
                        </a:rPr>
                        <a:t>Right Rotate</a:t>
                      </a:r>
                    </a:p>
                  </a:txBody>
                  <a:tcPr marL="46232" marR="46232" marT="28936" marB="28936" anchor="ctr"/>
                </a:tc>
                <a:tc>
                  <a:txBody>
                    <a:bodyPr/>
                    <a:lstStyle/>
                    <a:p>
                      <a:pPr algn="ctr" rtl="0" fontAlgn="base">
                        <a:spcAft>
                          <a:spcPts val="750"/>
                        </a:spcAft>
                        <a:buNone/>
                      </a:pPr>
                      <a:r>
                        <a:rPr lang="en-US" sz="1500" b="0">
                          <a:effectLst/>
                        </a:rPr>
                        <a:t>Performs a right rotation on a given node.</a:t>
                      </a:r>
                    </a:p>
                  </a:txBody>
                  <a:tcPr marL="57790" marR="57790" marT="80906" marB="80906" anchor="ctr"/>
                </a:tc>
                <a:tc>
                  <a:txBody>
                    <a:bodyPr/>
                    <a:lstStyle/>
                    <a:p>
                      <a:pPr algn="ctr" rtl="0" fontAlgn="base">
                        <a:spcAft>
                          <a:spcPts val="750"/>
                        </a:spcAft>
                        <a:buNone/>
                      </a:pPr>
                      <a:r>
                        <a:rPr lang="en-US" sz="1500" b="0">
                          <a:effectLst/>
                        </a:rPr>
                        <a:t>O(1)</a:t>
                      </a:r>
                    </a:p>
                  </a:txBody>
                  <a:tcPr marL="57790" marR="57790" marT="80906" marB="80906" anchor="ctr"/>
                </a:tc>
                <a:tc>
                  <a:txBody>
                    <a:bodyPr/>
                    <a:lstStyle/>
                    <a:p>
                      <a:endParaRPr lang="en-US" sz="2100"/>
                    </a:p>
                  </a:txBody>
                  <a:tcPr marL="110957" marR="110957" marT="55479" marB="55479"/>
                </a:tc>
                <a:extLst>
                  <a:ext uri="{0D108BD9-81ED-4DB2-BD59-A6C34878D82A}">
                    <a16:rowId xmlns:a16="http://schemas.microsoft.com/office/drawing/2014/main" val="1252586686"/>
                  </a:ext>
                </a:extLst>
              </a:tr>
            </a:tbl>
          </a:graphicData>
        </a:graphic>
      </p:graphicFrame>
    </p:spTree>
    <p:extLst>
      <p:ext uri="{BB962C8B-B14F-4D97-AF65-F5344CB8AC3E}">
        <p14:creationId xmlns:p14="http://schemas.microsoft.com/office/powerpoint/2010/main" val="3724447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EC7068-8899-91E7-9EB2-3E09B370AB84}"/>
              </a:ext>
            </a:extLst>
          </p:cNvPr>
          <p:cNvSpPr>
            <a:spLocks noGrp="1"/>
          </p:cNvSpPr>
          <p:nvPr>
            <p:ph type="title"/>
          </p:nvPr>
        </p:nvSpPr>
        <p:spPr>
          <a:xfrm>
            <a:off x="704088" y="914400"/>
            <a:ext cx="3660776" cy="4404064"/>
          </a:xfrm>
        </p:spPr>
        <p:txBody>
          <a:bodyPr>
            <a:normAutofit/>
          </a:bodyPr>
          <a:lstStyle/>
          <a:p>
            <a:r>
              <a:rPr lang="en-US" b="1" dirty="0"/>
              <a:t>Applications of Red Black Tree</a:t>
            </a:r>
            <a:br>
              <a:rPr lang="en-US" b="1" dirty="0"/>
            </a:br>
            <a:endParaRPr lang="en-US" dirty="0"/>
          </a:p>
        </p:txBody>
      </p:sp>
      <p:cxnSp>
        <p:nvCxnSpPr>
          <p:cNvPr id="11" name="Straight Connector 10">
            <a:extLst>
              <a:ext uri="{FF2B5EF4-FFF2-40B4-BE49-F238E27FC236}">
                <a16:creationId xmlns:a16="http://schemas.microsoft.com/office/drawing/2014/main" id="{B75B4F83-6FDB-4998-8E11-31CE6E7040B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0794B99-5B9D-4B94-9505-1EDED76CD6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2C553FE0-0BB8-3CC1-2327-B8E802FD50B4}"/>
              </a:ext>
            </a:extLst>
          </p:cNvPr>
          <p:cNvGraphicFramePr>
            <a:graphicFrameLocks noGrp="1"/>
          </p:cNvGraphicFramePr>
          <p:nvPr>
            <p:ph idx="1"/>
            <p:extLst>
              <p:ext uri="{D42A27DB-BD31-4B8C-83A1-F6EECF244321}">
                <p14:modId xmlns:p14="http://schemas.microsoft.com/office/powerpoint/2010/main" val="1147250008"/>
              </p:ext>
            </p:extLst>
          </p:nvPr>
        </p:nvGraphicFramePr>
        <p:xfrm>
          <a:off x="4876800" y="1066801"/>
          <a:ext cx="6581776" cy="472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852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3BAD060-3F5A-7F60-4AA1-08B295875D66}"/>
              </a:ext>
            </a:extLst>
          </p:cNvPr>
          <p:cNvPicPr>
            <a:picLocks noChangeAspect="1"/>
          </p:cNvPicPr>
          <p:nvPr/>
        </p:nvPicPr>
        <p:blipFill>
          <a:blip r:embed="rId2"/>
          <a:stretch>
            <a:fillRect/>
          </a:stretch>
        </p:blipFill>
        <p:spPr>
          <a:xfrm>
            <a:off x="800100" y="1971059"/>
            <a:ext cx="6072188" cy="4038004"/>
          </a:xfrm>
          <a:prstGeom prst="rect">
            <a:avLst/>
          </a:prstGeom>
        </p:spPr>
      </p:pic>
      <p:sp>
        <p:nvSpPr>
          <p:cNvPr id="2" name="TextBox 1">
            <a:extLst>
              <a:ext uri="{FF2B5EF4-FFF2-40B4-BE49-F238E27FC236}">
                <a16:creationId xmlns:a16="http://schemas.microsoft.com/office/drawing/2014/main" id="{0094C335-E3A8-BDA0-474B-E474932391CF}"/>
              </a:ext>
            </a:extLst>
          </p:cNvPr>
          <p:cNvSpPr txBox="1"/>
          <p:nvPr/>
        </p:nvSpPr>
        <p:spPr>
          <a:xfrm>
            <a:off x="7200900" y="1849121"/>
            <a:ext cx="4191001" cy="4139626"/>
          </a:xfrm>
          <a:prstGeom prst="rect">
            <a:avLst/>
          </a:prstGeom>
        </p:spPr>
        <p:txBody>
          <a:bodyPr vert="horz" lIns="91440" tIns="45720" rIns="91440" bIns="45720" rtlCol="0" anchor="b">
            <a:normAutofit/>
          </a:bodyPr>
          <a:lstStyle/>
          <a:p>
            <a:pPr indent="-228600">
              <a:lnSpc>
                <a:spcPct val="110000"/>
              </a:lnSpc>
              <a:spcAft>
                <a:spcPts val="600"/>
              </a:spcAft>
              <a:buFont typeface="Arial" panose="020B0604020202020204" pitchFamily="34" charset="0"/>
              <a:buChar char="•"/>
            </a:pPr>
            <a:r>
              <a:rPr lang="en-US"/>
              <a:t>Live Representation of RedBlack Trees</a:t>
            </a:r>
          </a:p>
        </p:txBody>
      </p:sp>
      <p:cxnSp>
        <p:nvCxnSpPr>
          <p:cNvPr id="17" name="Straight Connector 16">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743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2EE29-7519-C71F-3518-9A911FEB25A4}"/>
              </a:ext>
            </a:extLst>
          </p:cNvPr>
          <p:cNvSpPr>
            <a:spLocks noGrp="1"/>
          </p:cNvSpPr>
          <p:nvPr>
            <p:ph type="title"/>
          </p:nvPr>
        </p:nvSpPr>
        <p:spPr>
          <a:xfrm>
            <a:off x="704088" y="914400"/>
            <a:ext cx="10687812" cy="798194"/>
          </a:xfrm>
        </p:spPr>
        <p:txBody>
          <a:bodyPr>
            <a:normAutofit/>
          </a:bodyPr>
          <a:lstStyle/>
          <a:p>
            <a:r>
              <a:rPr lang="en-US" dirty="0"/>
              <a:t>Conclusion</a:t>
            </a:r>
            <a:endParaRPr lang="en-US"/>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6A2657A-2508-4A40-5EEC-D1A96988CEC4}"/>
              </a:ext>
            </a:extLst>
          </p:cNvPr>
          <p:cNvPicPr>
            <a:picLocks noChangeAspect="1"/>
          </p:cNvPicPr>
          <p:nvPr/>
        </p:nvPicPr>
        <p:blipFill>
          <a:blip r:embed="rId2"/>
          <a:stretch>
            <a:fillRect/>
          </a:stretch>
        </p:blipFill>
        <p:spPr>
          <a:xfrm>
            <a:off x="800100" y="1955879"/>
            <a:ext cx="6072188" cy="4053185"/>
          </a:xfrm>
          <a:prstGeom prst="rect">
            <a:avLst/>
          </a:prstGeom>
        </p:spPr>
      </p:pic>
      <p:sp>
        <p:nvSpPr>
          <p:cNvPr id="3" name="Content Placeholder 2">
            <a:extLst>
              <a:ext uri="{FF2B5EF4-FFF2-40B4-BE49-F238E27FC236}">
                <a16:creationId xmlns:a16="http://schemas.microsoft.com/office/drawing/2014/main" id="{C683BFBB-786F-AC7F-DC27-FB8BA4BDB90D}"/>
              </a:ext>
            </a:extLst>
          </p:cNvPr>
          <p:cNvSpPr>
            <a:spLocks noGrp="1"/>
          </p:cNvSpPr>
          <p:nvPr>
            <p:ph idx="1"/>
          </p:nvPr>
        </p:nvSpPr>
        <p:spPr>
          <a:xfrm>
            <a:off x="7200900" y="1849121"/>
            <a:ext cx="4191001" cy="4139626"/>
          </a:xfrm>
        </p:spPr>
        <p:txBody>
          <a:bodyPr anchor="b">
            <a:normAutofit/>
          </a:bodyPr>
          <a:lstStyle/>
          <a:p>
            <a:pPr marL="0" indent="0">
              <a:lnSpc>
                <a:spcPct val="100000"/>
              </a:lnSpc>
              <a:buNone/>
            </a:pPr>
            <a:r>
              <a:rPr lang="en-US" sz="1700">
                <a:latin typeface="Times New Roman" panose="02020603050405020304" pitchFamily="18" charset="0"/>
                <a:cs typeface="Times New Roman" panose="02020603050405020304" pitchFamily="18" charset="0"/>
              </a:rPr>
              <a:t>Red-Black Trees strike a powerful balance between structure and efficiency. By enforcing color-based rules and rotations, they maintain near-optimal height, ensuring fast search, insert, and delete operations. Their self-balancing nature makes them a cornerstone of many real-world applications—from associative containers in C++ STL to memory management systems.</a:t>
            </a:r>
          </a:p>
          <a:p>
            <a:pPr marL="0" indent="0">
              <a:lnSpc>
                <a:spcPct val="100000"/>
              </a:lnSpc>
              <a:buNone/>
            </a:pPr>
            <a:r>
              <a:rPr lang="en-US" sz="1700">
                <a:latin typeface="Times New Roman" panose="02020603050405020304" pitchFamily="18" charset="0"/>
                <a:cs typeface="Times New Roman" panose="02020603050405020304" pitchFamily="18" charset="0"/>
              </a:rPr>
              <a:t>In essence, Red-Black Trees exemplify how thoughtful design in data structures can lead to robust, scalable solutions. Understanding them not only deepens our grasp of algorithms but also equips us to tackle complex problems with clarity and precision.</a:t>
            </a:r>
          </a:p>
          <a:p>
            <a:pPr>
              <a:lnSpc>
                <a:spcPct val="100000"/>
              </a:lnSpc>
            </a:pPr>
            <a:endParaRPr lang="en-US" sz="1700">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035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FA53C6-7773-241B-55F5-9379DA5DA457}"/>
              </a:ext>
            </a:extLst>
          </p:cNvPr>
          <p:cNvSpPr>
            <a:spLocks noGrp="1"/>
          </p:cNvSpPr>
          <p:nvPr>
            <p:ph type="title"/>
          </p:nvPr>
        </p:nvSpPr>
        <p:spPr>
          <a:xfrm>
            <a:off x="704088" y="555712"/>
            <a:ext cx="4218435" cy="2390687"/>
          </a:xfrm>
        </p:spPr>
        <p:txBody>
          <a:bodyPr>
            <a:normAutofit/>
          </a:bodyPr>
          <a:lstStyle/>
          <a:p>
            <a:r>
              <a:rPr lang="en-US" dirty="0"/>
              <a:t>References</a:t>
            </a:r>
          </a:p>
        </p:txBody>
      </p:sp>
      <p:pic>
        <p:nvPicPr>
          <p:cNvPr id="7" name="Graphic 6" descr="Marker">
            <a:extLst>
              <a:ext uri="{FF2B5EF4-FFF2-40B4-BE49-F238E27FC236}">
                <a16:creationId xmlns:a16="http://schemas.microsoft.com/office/drawing/2014/main" id="{05ACB4B8-7580-929B-3502-8E5A13FC5E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383" y="3210560"/>
            <a:ext cx="2959568" cy="2959568"/>
          </a:xfrm>
          <a:prstGeom prst="rect">
            <a:avLst/>
          </a:prstGeom>
        </p:spPr>
      </p:pic>
      <p:cxnSp>
        <p:nvCxnSpPr>
          <p:cNvPr id="12" name="Straight Connector 11">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25511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1B4453C-9CDF-EAF2-E6DB-CC55CD208E97}"/>
              </a:ext>
            </a:extLst>
          </p:cNvPr>
          <p:cNvSpPr>
            <a:spLocks noGrp="1"/>
          </p:cNvSpPr>
          <p:nvPr>
            <p:ph idx="1"/>
          </p:nvPr>
        </p:nvSpPr>
        <p:spPr>
          <a:xfrm>
            <a:off x="5576418" y="555712"/>
            <a:ext cx="5916168" cy="5614416"/>
          </a:xfrm>
        </p:spPr>
        <p:txBody>
          <a:bodyPr>
            <a:normAutofit/>
          </a:bodyPr>
          <a:lstStyle/>
          <a:p>
            <a:r>
              <a:rPr lang="en-US" dirty="0">
                <a:hlinkClick r:id="rId4"/>
              </a:rPr>
              <a:t>https://github.com/Eniolaakinola/Red-Black-Trees.git</a:t>
            </a:r>
            <a:r>
              <a:rPr lang="en-US" dirty="0"/>
              <a:t> </a:t>
            </a:r>
          </a:p>
          <a:p>
            <a:r>
              <a:rPr lang="en-US" dirty="0">
                <a:hlinkClick r:id="rId5"/>
              </a:rPr>
              <a:t>https://www.geeksforgeeks.org/cpp/red-black-tree-in-cpp/</a:t>
            </a:r>
            <a:endParaRPr lang="en-US" dirty="0"/>
          </a:p>
          <a:p>
            <a:r>
              <a:rPr lang="en-US" dirty="0">
                <a:hlinkClick r:id="rId6"/>
              </a:rPr>
              <a:t>https://medium.com/@ben.tom.vincent/why-use-a-red-black-tree-over-a-regular-binary-search-tree-a63857916907</a:t>
            </a:r>
            <a:endParaRPr lang="en-US" dirty="0"/>
          </a:p>
          <a:p>
            <a:r>
              <a:rPr lang="en-US" dirty="0">
                <a:hlinkClick r:id="rId7"/>
              </a:rPr>
              <a:t>https://www.alamy.com/problem-solving-concept-a-man-thinks-and-solves-a-problem-a-boy-with-laptop-a-luminous-bulb-as-symbol-of-the-appearance-of-a-creative-idea-cartoon-image387800933.html</a:t>
            </a:r>
            <a:endParaRPr lang="en-US" dirty="0"/>
          </a:p>
          <a:p>
            <a:endParaRPr lang="en-US" dirty="0"/>
          </a:p>
        </p:txBody>
      </p:sp>
    </p:spTree>
    <p:extLst>
      <p:ext uri="{BB962C8B-B14F-4D97-AF65-F5344CB8AC3E}">
        <p14:creationId xmlns:p14="http://schemas.microsoft.com/office/powerpoint/2010/main" val="108293613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fbd657c-f914-4ea5-ac39-5c657283961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51A13F78ED8841838D2944D3D1C432" ma:contentTypeVersion="6" ma:contentTypeDescription="Create a new document." ma:contentTypeScope="" ma:versionID="e237d82d67e7d904404450e0d868b98d">
  <xsd:schema xmlns:xsd="http://www.w3.org/2001/XMLSchema" xmlns:xs="http://www.w3.org/2001/XMLSchema" xmlns:p="http://schemas.microsoft.com/office/2006/metadata/properties" xmlns:ns3="6fbd657c-f914-4ea5-ac39-5c657283961d" targetNamespace="http://schemas.microsoft.com/office/2006/metadata/properties" ma:root="true" ma:fieldsID="fa00c2991789a7081474368e643f2ca0" ns3:_="">
    <xsd:import namespace="6fbd657c-f914-4ea5-ac39-5c657283961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bd657c-f914-4ea5-ac39-5c65728396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B001D2-4AC0-43B2-AA8E-5347193191D5}">
  <ds:schemaRefs>
    <ds:schemaRef ds:uri="http://schemas.openxmlformats.org/package/2006/metadata/core-properties"/>
    <ds:schemaRef ds:uri="http://www.w3.org/XML/1998/namespace"/>
    <ds:schemaRef ds:uri="http://schemas.microsoft.com/office/2006/documentManagement/types"/>
    <ds:schemaRef ds:uri="http://purl.org/dc/elements/1.1/"/>
    <ds:schemaRef ds:uri="http://schemas.microsoft.com/office/infopath/2007/PartnerControls"/>
    <ds:schemaRef ds:uri="http://purl.org/dc/terms/"/>
    <ds:schemaRef ds:uri="6fbd657c-f914-4ea5-ac39-5c657283961d"/>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1846A26-7CE6-4698-A923-D3AB7095DB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bd657c-f914-4ea5-ac39-5c65728396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F5D29A-30BB-40C7-B445-7360DE6FEF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1857</TotalTime>
  <Words>634</Words>
  <Application>Microsoft Office PowerPoint</Application>
  <PresentationFormat>Widescreen</PresentationFormat>
  <Paragraphs>57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Calisto MT</vt:lpstr>
      <vt:lpstr>Times New Roman</vt:lpstr>
      <vt:lpstr>Univers Condensed</vt:lpstr>
      <vt:lpstr>ChronicleVTI</vt:lpstr>
      <vt:lpstr>Red Black Trees</vt:lpstr>
      <vt:lpstr>Definition</vt:lpstr>
      <vt:lpstr>Example of Red-black tree</vt:lpstr>
      <vt:lpstr>PowerPoint Presentation</vt:lpstr>
      <vt:lpstr>Red-Black Tree Operations</vt:lpstr>
      <vt:lpstr>Applications of Red Black Tree </vt:lpstr>
      <vt:lpstr>PowerPoint Presentation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Akinola, Eniola</dc:creator>
  <cp:lastModifiedBy>Akinola, Eniola</cp:lastModifiedBy>
  <cp:revision>2</cp:revision>
  <dcterms:created xsi:type="dcterms:W3CDTF">2025-07-24T18:08:29Z</dcterms:created>
  <dcterms:modified xsi:type="dcterms:W3CDTF">2025-11-13T00:28:35Z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0x010100F651A13F78ED8841838D2944D3D1C432</vt:lpwstr>
  </property>
</Properties>
</file>